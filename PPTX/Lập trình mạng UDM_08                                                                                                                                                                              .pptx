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ungee" charset="1" panose="00000000000000000000"/>
      <p:regular r:id="rId25"/>
    </p:embeddedFont>
    <p:embeddedFont>
      <p:font typeface="RQND Pro Wide" charset="1" panose="00000500000000000000"/>
      <p:regular r:id="rId26"/>
    </p:embeddedFont>
    <p:embeddedFont>
      <p:font typeface="DejaVu Serif Bold" charset="1" panose="02060803050605020204"/>
      <p:regular r:id="rId27"/>
    </p:embeddedFont>
    <p:embeddedFont>
      <p:font typeface="Noto Sans Bold" charset="1" panose="020B0802040504020204"/>
      <p:regular r:id="rId28"/>
    </p:embeddedFont>
    <p:embeddedFont>
      <p:font typeface="Noto Sans" charset="1" panose="020B050204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4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5274782" y="-2732327"/>
            <a:ext cx="8313625" cy="18719266"/>
            <a:chOff x="0" y="0"/>
            <a:chExt cx="2189597" cy="49301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9597" cy="4930177"/>
            </a:xfrm>
            <a:custGeom>
              <a:avLst/>
              <a:gdLst/>
              <a:ahLst/>
              <a:cxnLst/>
              <a:rect r="r" b="b" t="t" l="l"/>
              <a:pathLst>
                <a:path h="4930177" w="2189597">
                  <a:moveTo>
                    <a:pt x="0" y="0"/>
                  </a:moveTo>
                  <a:lnTo>
                    <a:pt x="2189597" y="0"/>
                  </a:lnTo>
                  <a:lnTo>
                    <a:pt x="2189597" y="4930177"/>
                  </a:lnTo>
                  <a:lnTo>
                    <a:pt x="0" y="493017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9597" cy="496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2097" y="5143500"/>
            <a:ext cx="5705613" cy="5332971"/>
            <a:chOff x="0" y="0"/>
            <a:chExt cx="2198600" cy="2055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600" cy="2055007"/>
            </a:xfrm>
            <a:custGeom>
              <a:avLst/>
              <a:gdLst/>
              <a:ahLst/>
              <a:cxnLst/>
              <a:rect r="r" b="b" t="t" l="l"/>
              <a:pathLst>
                <a:path h="2055007" w="2198600">
                  <a:moveTo>
                    <a:pt x="20385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94987"/>
                  </a:lnTo>
                  <a:lnTo>
                    <a:pt x="160020" y="2055007"/>
                  </a:lnTo>
                  <a:lnTo>
                    <a:pt x="2038580" y="2055007"/>
                  </a:lnTo>
                  <a:lnTo>
                    <a:pt x="2198600" y="1894987"/>
                  </a:lnTo>
                  <a:lnTo>
                    <a:pt x="2198600" y="160020"/>
                  </a:lnTo>
                  <a:lnTo>
                    <a:pt x="20385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92075"/>
              <a:ext cx="2071600" cy="189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74192" y="593821"/>
            <a:ext cx="15939616" cy="154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5659" spc="-124">
                <a:solidFill>
                  <a:srgbClr val="1CC9F1"/>
                </a:solidFill>
                <a:latin typeface="Bungee"/>
                <a:ea typeface="Bungee"/>
                <a:cs typeface="Bungee"/>
                <a:sym typeface="Bungee"/>
              </a:rPr>
              <a:t>UDM_08 - XÂY DỰNG ỨNG DỤNG CHAT LAN</a:t>
            </a:r>
          </a:p>
          <a:p>
            <a:pPr algn="ctr">
              <a:lnSpc>
                <a:spcPts val="3509"/>
              </a:lnSpc>
            </a:pPr>
          </a:p>
          <a:p>
            <a:pPr algn="ctr">
              <a:lnSpc>
                <a:spcPts val="3509"/>
              </a:lnSpc>
            </a:pPr>
            <a:r>
              <a:rPr lang="en-US" sz="5659" spc="-124">
                <a:solidFill>
                  <a:srgbClr val="1CC9F1"/>
                </a:solidFill>
                <a:latin typeface="Bungee"/>
                <a:ea typeface="Bungee"/>
                <a:cs typeface="Bungee"/>
                <a:sym typeface="Bungee"/>
              </a:rPr>
              <a:t> CLIENT-SERVER SỬ DỤNG TCP SOCKET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40277" y="5143500"/>
            <a:ext cx="809254" cy="111242"/>
            <a:chOff x="0" y="0"/>
            <a:chExt cx="213137" cy="29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137" cy="29298"/>
            </a:xfrm>
            <a:custGeom>
              <a:avLst/>
              <a:gdLst/>
              <a:ahLst/>
              <a:cxnLst/>
              <a:rect r="r" b="b" t="t" l="l"/>
              <a:pathLst>
                <a:path h="29298" w="213137">
                  <a:moveTo>
                    <a:pt x="0" y="0"/>
                  </a:moveTo>
                  <a:lnTo>
                    <a:pt x="213137" y="0"/>
                  </a:lnTo>
                  <a:lnTo>
                    <a:pt x="213137" y="29298"/>
                  </a:lnTo>
                  <a:lnTo>
                    <a:pt x="0" y="2929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3137" cy="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5954807" y="9858666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309515" y="0"/>
                </a:moveTo>
                <a:lnTo>
                  <a:pt x="0" y="0"/>
                </a:lnTo>
                <a:lnTo>
                  <a:pt x="0" y="240296"/>
                </a:lnTo>
                <a:lnTo>
                  <a:pt x="309515" y="240296"/>
                </a:lnTo>
                <a:lnTo>
                  <a:pt x="3095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86555">
            <a:off x="873942" y="5573474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0" y="0"/>
                </a:moveTo>
                <a:lnTo>
                  <a:pt x="309516" y="0"/>
                </a:lnTo>
                <a:lnTo>
                  <a:pt x="309516" y="240297"/>
                </a:lnTo>
                <a:lnTo>
                  <a:pt x="0" y="240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800000">
            <a:off x="460050" y="1148848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309515" y="0"/>
                </a:moveTo>
                <a:lnTo>
                  <a:pt x="0" y="0"/>
                </a:lnTo>
                <a:lnTo>
                  <a:pt x="0" y="240297"/>
                </a:lnTo>
                <a:lnTo>
                  <a:pt x="309515" y="240297"/>
                </a:lnTo>
                <a:lnTo>
                  <a:pt x="3095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692097" y="1959066"/>
            <a:ext cx="0" cy="6368868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8050348" y="1963251"/>
            <a:ext cx="0" cy="6368868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982139" y="5394250"/>
            <a:ext cx="3125529" cy="65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4899" spc="48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NHÓM 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282771" y="2792105"/>
            <a:ext cx="10767577" cy="7066560"/>
            <a:chOff x="0" y="0"/>
            <a:chExt cx="14356769" cy="9422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04976" y="3240172"/>
              <a:ext cx="2185691" cy="2298527"/>
            </a:xfrm>
            <a:custGeom>
              <a:avLst/>
              <a:gdLst/>
              <a:ahLst/>
              <a:cxnLst/>
              <a:rect r="r" b="b" t="t" l="l"/>
              <a:pathLst>
                <a:path h="2298527" w="2185691">
                  <a:moveTo>
                    <a:pt x="0" y="0"/>
                  </a:moveTo>
                  <a:lnTo>
                    <a:pt x="2185691" y="0"/>
                  </a:lnTo>
                  <a:lnTo>
                    <a:pt x="2185691" y="2298528"/>
                  </a:lnTo>
                  <a:lnTo>
                    <a:pt x="0" y="229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257243" y="2489027"/>
              <a:ext cx="2406238" cy="4110034"/>
            </a:xfrm>
            <a:custGeom>
              <a:avLst/>
              <a:gdLst/>
              <a:ahLst/>
              <a:cxnLst/>
              <a:rect r="r" b="b" t="t" l="l"/>
              <a:pathLst>
                <a:path h="4110034" w="2406238">
                  <a:moveTo>
                    <a:pt x="0" y="0"/>
                  </a:moveTo>
                  <a:lnTo>
                    <a:pt x="2406238" y="0"/>
                  </a:lnTo>
                  <a:lnTo>
                    <a:pt x="2406238" y="4110034"/>
                  </a:lnTo>
                  <a:lnTo>
                    <a:pt x="0" y="4110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148625" y="3112046"/>
              <a:ext cx="3208144" cy="2863998"/>
            </a:xfrm>
            <a:custGeom>
              <a:avLst/>
              <a:gdLst/>
              <a:ahLst/>
              <a:cxnLst/>
              <a:rect r="r" b="b" t="t" l="l"/>
              <a:pathLst>
                <a:path h="2863998" w="3208144">
                  <a:moveTo>
                    <a:pt x="0" y="0"/>
                  </a:moveTo>
                  <a:lnTo>
                    <a:pt x="3208144" y="0"/>
                  </a:lnTo>
                  <a:lnTo>
                    <a:pt x="3208144" y="2863997"/>
                  </a:lnTo>
                  <a:lnTo>
                    <a:pt x="0" y="2863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72584" y="2237962"/>
              <a:ext cx="3695458" cy="695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3831" spc="383">
                  <a:solidFill>
                    <a:srgbClr val="FFFFFF"/>
                  </a:solidFill>
                  <a:latin typeface="RQND Pro Wide"/>
                  <a:ea typeface="RQND Pro Wide"/>
                  <a:cs typeface="RQND Pro Wide"/>
                  <a:sym typeface="RQND Pro Wide"/>
                </a:rPr>
                <a:t>CLIENT A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304976" y="6513570"/>
              <a:ext cx="2185691" cy="2298527"/>
            </a:xfrm>
            <a:custGeom>
              <a:avLst/>
              <a:gdLst/>
              <a:ahLst/>
              <a:cxnLst/>
              <a:rect r="r" b="b" t="t" l="l"/>
              <a:pathLst>
                <a:path h="2298527" w="2185691">
                  <a:moveTo>
                    <a:pt x="0" y="0"/>
                  </a:moveTo>
                  <a:lnTo>
                    <a:pt x="2185691" y="0"/>
                  </a:lnTo>
                  <a:lnTo>
                    <a:pt x="2185691" y="2298528"/>
                  </a:lnTo>
                  <a:lnTo>
                    <a:pt x="0" y="229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04976" y="0"/>
              <a:ext cx="2185691" cy="2298527"/>
            </a:xfrm>
            <a:custGeom>
              <a:avLst/>
              <a:gdLst/>
              <a:ahLst/>
              <a:cxnLst/>
              <a:rect r="r" b="b" t="t" l="l"/>
              <a:pathLst>
                <a:path h="2298527" w="2185691">
                  <a:moveTo>
                    <a:pt x="0" y="0"/>
                  </a:moveTo>
                  <a:lnTo>
                    <a:pt x="2185691" y="0"/>
                  </a:lnTo>
                  <a:lnTo>
                    <a:pt x="2185691" y="2298527"/>
                  </a:lnTo>
                  <a:lnTo>
                    <a:pt x="0" y="229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>
              <a:off x="3151330" y="1076341"/>
              <a:ext cx="2620371" cy="2907262"/>
            </a:xfrm>
            <a:custGeom>
              <a:avLst/>
              <a:gdLst/>
              <a:ahLst/>
              <a:cxnLst/>
              <a:rect r="r" b="b" t="t" l="l"/>
              <a:pathLst>
                <a:path h="2907262" w="2620371">
                  <a:moveTo>
                    <a:pt x="2620372" y="2907262"/>
                  </a:moveTo>
                  <a:lnTo>
                    <a:pt x="1699620" y="2907262"/>
                  </a:lnTo>
                  <a:cubicBezTo>
                    <a:pt x="1545312" y="2907262"/>
                    <a:pt x="1420220" y="2782170"/>
                    <a:pt x="1420220" y="2627862"/>
                  </a:cubicBezTo>
                  <a:lnTo>
                    <a:pt x="1420220" y="279400"/>
                  </a:lnTo>
                  <a:cubicBezTo>
                    <a:pt x="1420220" y="205298"/>
                    <a:pt x="1390784" y="134232"/>
                    <a:pt x="1338386" y="81834"/>
                  </a:cubicBezTo>
                  <a:cubicBezTo>
                    <a:pt x="1285988" y="29437"/>
                    <a:pt x="1214922" y="0"/>
                    <a:pt x="1140820" y="0"/>
                  </a:cubicBezTo>
                  <a:lnTo>
                    <a:pt x="0" y="0"/>
                  </a:lnTo>
                </a:path>
              </a:pathLst>
            </a:custGeom>
            <a:ln cap="flat" w="88900">
              <a:solidFill>
                <a:srgbClr val="528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-10800000">
              <a:off x="2665789" y="828895"/>
              <a:ext cx="485541" cy="494891"/>
            </a:xfrm>
            <a:custGeom>
              <a:avLst/>
              <a:gdLst/>
              <a:ahLst/>
              <a:cxnLst/>
              <a:rect r="r" b="b" t="t" l="l"/>
              <a:pathLst>
                <a:path h="494891" w="485541">
                  <a:moveTo>
                    <a:pt x="0" y="0"/>
                  </a:moveTo>
                  <a:lnTo>
                    <a:pt x="485541" y="0"/>
                  </a:lnTo>
                  <a:lnTo>
                    <a:pt x="485541" y="494892"/>
                  </a:lnTo>
                  <a:lnTo>
                    <a:pt x="0" y="494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771702" y="3736157"/>
              <a:ext cx="485541" cy="494891"/>
            </a:xfrm>
            <a:custGeom>
              <a:avLst/>
              <a:gdLst/>
              <a:ahLst/>
              <a:cxnLst/>
              <a:rect r="r" b="b" t="t" l="l"/>
              <a:pathLst>
                <a:path h="494891" w="485541">
                  <a:moveTo>
                    <a:pt x="0" y="0"/>
                  </a:moveTo>
                  <a:lnTo>
                    <a:pt x="485541" y="0"/>
                  </a:lnTo>
                  <a:lnTo>
                    <a:pt x="485541" y="494892"/>
                  </a:lnTo>
                  <a:lnTo>
                    <a:pt x="0" y="494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>
              <a:off x="3151330" y="4636882"/>
              <a:ext cx="1430664" cy="0"/>
            </a:xfrm>
            <a:custGeom>
              <a:avLst/>
              <a:gdLst/>
              <a:ahLst/>
              <a:cxnLst/>
              <a:rect r="r" b="b" t="t" l="l"/>
              <a:pathLst>
                <a:path h="0" w="1430664">
                  <a:moveTo>
                    <a:pt x="1430664" y="0"/>
                  </a:moveTo>
                  <a:lnTo>
                    <a:pt x="0" y="0"/>
                  </a:lnTo>
                </a:path>
              </a:pathLst>
            </a:custGeom>
            <a:ln cap="flat" w="88900">
              <a:solidFill>
                <a:srgbClr val="528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-10800000">
              <a:off x="2665789" y="4389436"/>
              <a:ext cx="485541" cy="494891"/>
            </a:xfrm>
            <a:custGeom>
              <a:avLst/>
              <a:gdLst/>
              <a:ahLst/>
              <a:cxnLst/>
              <a:rect r="r" b="b" t="t" l="l"/>
              <a:pathLst>
                <a:path h="494891" w="485541">
                  <a:moveTo>
                    <a:pt x="0" y="0"/>
                  </a:moveTo>
                  <a:lnTo>
                    <a:pt x="485541" y="0"/>
                  </a:lnTo>
                  <a:lnTo>
                    <a:pt x="485541" y="494891"/>
                  </a:lnTo>
                  <a:lnTo>
                    <a:pt x="0" y="494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771702" y="4389436"/>
              <a:ext cx="485541" cy="494891"/>
            </a:xfrm>
            <a:custGeom>
              <a:avLst/>
              <a:gdLst/>
              <a:ahLst/>
              <a:cxnLst/>
              <a:rect r="r" b="b" t="t" l="l"/>
              <a:pathLst>
                <a:path h="494891" w="485541">
                  <a:moveTo>
                    <a:pt x="0" y="0"/>
                  </a:moveTo>
                  <a:lnTo>
                    <a:pt x="485541" y="0"/>
                  </a:lnTo>
                  <a:lnTo>
                    <a:pt x="485541" y="494891"/>
                  </a:lnTo>
                  <a:lnTo>
                    <a:pt x="0" y="494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>
              <a:off x="3121833" y="5416775"/>
              <a:ext cx="2649868" cy="2726650"/>
            </a:xfrm>
            <a:custGeom>
              <a:avLst/>
              <a:gdLst/>
              <a:ahLst/>
              <a:cxnLst/>
              <a:rect r="r" b="b" t="t" l="l"/>
              <a:pathLst>
                <a:path h="2726650" w="2649868">
                  <a:moveTo>
                    <a:pt x="2649869" y="0"/>
                  </a:moveTo>
                  <a:lnTo>
                    <a:pt x="1798555" y="0"/>
                  </a:lnTo>
                  <a:cubicBezTo>
                    <a:pt x="1724453" y="0"/>
                    <a:pt x="1653387" y="29436"/>
                    <a:pt x="1600989" y="81834"/>
                  </a:cubicBezTo>
                  <a:cubicBezTo>
                    <a:pt x="1548591" y="134232"/>
                    <a:pt x="1519155" y="205299"/>
                    <a:pt x="1519155" y="279400"/>
                  </a:cubicBezTo>
                  <a:lnTo>
                    <a:pt x="1519155" y="2447250"/>
                  </a:lnTo>
                  <a:cubicBezTo>
                    <a:pt x="1519155" y="2601558"/>
                    <a:pt x="1394063" y="2726650"/>
                    <a:pt x="1239755" y="2726650"/>
                  </a:cubicBezTo>
                  <a:lnTo>
                    <a:pt x="0" y="2726650"/>
                  </a:lnTo>
                </a:path>
              </a:pathLst>
            </a:custGeom>
            <a:ln cap="flat" w="88900">
              <a:solidFill>
                <a:srgbClr val="5284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771702" y="5169329"/>
              <a:ext cx="485541" cy="494891"/>
            </a:xfrm>
            <a:custGeom>
              <a:avLst/>
              <a:gdLst/>
              <a:ahLst/>
              <a:cxnLst/>
              <a:rect r="r" b="b" t="t" l="l"/>
              <a:pathLst>
                <a:path h="494891" w="485541">
                  <a:moveTo>
                    <a:pt x="0" y="0"/>
                  </a:moveTo>
                  <a:lnTo>
                    <a:pt x="485541" y="0"/>
                  </a:lnTo>
                  <a:lnTo>
                    <a:pt x="485541" y="494891"/>
                  </a:lnTo>
                  <a:lnTo>
                    <a:pt x="0" y="494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>
              <a:off x="8899456" y="4150830"/>
              <a:ext cx="991849" cy="0"/>
            </a:xfrm>
            <a:custGeom>
              <a:avLst/>
              <a:gdLst/>
              <a:ahLst/>
              <a:cxnLst/>
              <a:rect r="r" b="b" t="t" l="l"/>
              <a:pathLst>
                <a:path h="0" w="991849">
                  <a:moveTo>
                    <a:pt x="991849" y="0"/>
                  </a:moveTo>
                  <a:lnTo>
                    <a:pt x="0" y="0"/>
                  </a:lnTo>
                </a:path>
              </a:pathLst>
            </a:custGeom>
            <a:ln cap="flat" w="88900">
              <a:gradFill>
                <a:gsLst>
                  <a:gs pos="0">
                    <a:srgbClr val="7B2D9F">
                      <a:alpha val="100000"/>
                    </a:srgbClr>
                  </a:gs>
                  <a:gs pos="100000">
                    <a:srgbClr val="FDD82E">
                      <a:alpha val="100000"/>
                    </a:srgbClr>
                  </a:gs>
                </a:gsLst>
                <a:lin ang="54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5" id="35"/>
            <p:cNvSpPr/>
            <p:nvPr/>
          </p:nvSpPr>
          <p:spPr>
            <a:xfrm>
              <a:off x="8936305" y="5124879"/>
              <a:ext cx="991848" cy="0"/>
            </a:xfrm>
            <a:custGeom>
              <a:avLst/>
              <a:gdLst/>
              <a:ahLst/>
              <a:cxnLst/>
              <a:rect r="r" b="b" t="t" l="l"/>
              <a:pathLst>
                <a:path h="0" w="991848">
                  <a:moveTo>
                    <a:pt x="991848" y="0"/>
                  </a:moveTo>
                  <a:lnTo>
                    <a:pt x="0" y="0"/>
                  </a:lnTo>
                </a:path>
              </a:pathLst>
            </a:custGeom>
            <a:ln cap="flat" w="88900">
              <a:gradFill>
                <a:gsLst>
                  <a:gs pos="0">
                    <a:srgbClr val="7B2D9F">
                      <a:alpha val="100000"/>
                    </a:srgbClr>
                  </a:gs>
                  <a:gs pos="100000">
                    <a:srgbClr val="FDD82E">
                      <a:alpha val="100000"/>
                    </a:srgbClr>
                  </a:gs>
                </a:gsLst>
                <a:lin ang="54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5513715"/>
              <a:ext cx="3768043" cy="695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3831" spc="383">
                  <a:solidFill>
                    <a:srgbClr val="FFFFFF"/>
                  </a:solidFill>
                  <a:latin typeface="RQND Pro Wide"/>
                  <a:ea typeface="RQND Pro Wide"/>
                  <a:cs typeface="RQND Pro Wide"/>
                  <a:sym typeface="RQND Pro Wide"/>
                </a:rPr>
                <a:t>CLIENT B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72584" y="8727025"/>
              <a:ext cx="3698181" cy="695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3831" spc="383">
                  <a:solidFill>
                    <a:srgbClr val="FFFFFF"/>
                  </a:solidFill>
                  <a:latin typeface="RQND Pro Wide"/>
                  <a:ea typeface="RQND Pro Wide"/>
                  <a:cs typeface="RQND Pro Wide"/>
                  <a:sym typeface="RQND Pro Wide"/>
                </a:rPr>
                <a:t>CLIENT N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024101" y="1638307"/>
              <a:ext cx="3463067" cy="695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3831" spc="383">
                  <a:solidFill>
                    <a:srgbClr val="FFFFFF"/>
                  </a:solidFill>
                  <a:latin typeface="RQND Pro Wide"/>
                  <a:ea typeface="RQND Pro Wide"/>
                  <a:cs typeface="RQND Pro Wide"/>
                  <a:sym typeface="RQND Pro Wide"/>
                </a:rPr>
                <a:t>SERVER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0210518" y="2006517"/>
              <a:ext cx="4146251" cy="678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4"/>
                </a:lnSpc>
              </a:pPr>
              <a:r>
                <a:rPr lang="en-US" sz="3731" spc="373">
                  <a:solidFill>
                    <a:srgbClr val="FFFFFF"/>
                  </a:solidFill>
                  <a:latin typeface="RQND Pro Wide"/>
                  <a:ea typeface="RQND Pro Wide"/>
                  <a:cs typeface="RQND Pro Wide"/>
                  <a:sym typeface="RQND Pro Wide"/>
                </a:rPr>
                <a:t>DATABASE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-10800000">
            <a:off x="9144000" y="7956765"/>
            <a:ext cx="364156" cy="371169"/>
          </a:xfrm>
          <a:custGeom>
            <a:avLst/>
            <a:gdLst/>
            <a:ahLst/>
            <a:cxnLst/>
            <a:rect r="r" b="b" t="t" l="l"/>
            <a:pathLst>
              <a:path h="371169" w="364156">
                <a:moveTo>
                  <a:pt x="0" y="0"/>
                </a:moveTo>
                <a:lnTo>
                  <a:pt x="364156" y="0"/>
                </a:lnTo>
                <a:lnTo>
                  <a:pt x="364156" y="371169"/>
                </a:lnTo>
                <a:lnTo>
                  <a:pt x="0" y="3711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472909" y="6452536"/>
            <a:ext cx="342936" cy="349540"/>
          </a:xfrm>
          <a:custGeom>
            <a:avLst/>
            <a:gdLst/>
            <a:ahLst/>
            <a:cxnLst/>
            <a:rect r="r" b="b" t="t" l="l"/>
            <a:pathLst>
              <a:path h="349540" w="342936">
                <a:moveTo>
                  <a:pt x="0" y="0"/>
                </a:moveTo>
                <a:lnTo>
                  <a:pt x="342936" y="0"/>
                </a:lnTo>
                <a:lnTo>
                  <a:pt x="342936" y="349540"/>
                </a:lnTo>
                <a:lnTo>
                  <a:pt x="0" y="349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10800000">
            <a:off x="13642269" y="5699266"/>
            <a:ext cx="342936" cy="349540"/>
          </a:xfrm>
          <a:custGeom>
            <a:avLst/>
            <a:gdLst/>
            <a:ahLst/>
            <a:cxnLst/>
            <a:rect r="r" b="b" t="t" l="l"/>
            <a:pathLst>
              <a:path h="349540" w="342936">
                <a:moveTo>
                  <a:pt x="0" y="0"/>
                </a:moveTo>
                <a:lnTo>
                  <a:pt x="342936" y="0"/>
                </a:lnTo>
                <a:lnTo>
                  <a:pt x="342936" y="349540"/>
                </a:lnTo>
                <a:lnTo>
                  <a:pt x="0" y="349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1962" y="5562576"/>
            <a:ext cx="6698472" cy="516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  <a:spcBef>
                <a:spcPct val="0"/>
              </a:spcBef>
            </a:pP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Nguyễn Gia Hiếu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Nguyễn Anh Kiệt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Đinh Phúc Thuận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Hoàng Anh Kiệt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Huỳnh Tấn Phát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b="true" sz="3899" spc="-19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Phạm Quốc Dũng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1274" y="4658404"/>
            <a:ext cx="6286948" cy="2558464"/>
            <a:chOff x="0" y="0"/>
            <a:chExt cx="1753130" cy="713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7193040" y="7150068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5"/>
                </a:moveTo>
                <a:lnTo>
                  <a:pt x="381125" y="381125"/>
                </a:lnTo>
                <a:lnTo>
                  <a:pt x="381125" y="0"/>
                </a:lnTo>
                <a:lnTo>
                  <a:pt x="0" y="0"/>
                </a:lnTo>
                <a:lnTo>
                  <a:pt x="0" y="3811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8982" y="1782042"/>
            <a:ext cx="6286948" cy="2558464"/>
            <a:chOff x="0" y="0"/>
            <a:chExt cx="1753130" cy="7134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9927" y="805777"/>
            <a:ext cx="1076802" cy="115313"/>
            <a:chOff x="0" y="0"/>
            <a:chExt cx="283602" cy="30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602" cy="30371"/>
            </a:xfrm>
            <a:custGeom>
              <a:avLst/>
              <a:gdLst/>
              <a:ahLst/>
              <a:cxnLst/>
              <a:rect r="r" b="b" t="t" l="l"/>
              <a:pathLst>
                <a:path h="30371" w="283602">
                  <a:moveTo>
                    <a:pt x="0" y="0"/>
                  </a:moveTo>
                  <a:lnTo>
                    <a:pt x="283602" y="0"/>
                  </a:lnTo>
                  <a:lnTo>
                    <a:pt x="283602" y="30371"/>
                  </a:lnTo>
                  <a:lnTo>
                    <a:pt x="0" y="30371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83602" cy="1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982" y="4658404"/>
            <a:ext cx="6286948" cy="2558464"/>
            <a:chOff x="0" y="0"/>
            <a:chExt cx="1753130" cy="7134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61274" y="1797810"/>
            <a:ext cx="6286948" cy="2558464"/>
            <a:chOff x="0" y="0"/>
            <a:chExt cx="1753130" cy="7134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03566" y="877661"/>
            <a:ext cx="4155569" cy="8380639"/>
            <a:chOff x="0" y="0"/>
            <a:chExt cx="1343907" cy="27102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3907" cy="2710290"/>
            </a:xfrm>
            <a:custGeom>
              <a:avLst/>
              <a:gdLst/>
              <a:ahLst/>
              <a:cxnLst/>
              <a:rect r="r" b="b" t="t" l="l"/>
              <a:pathLst>
                <a:path h="2710290" w="1343907">
                  <a:moveTo>
                    <a:pt x="1105782" y="0"/>
                  </a:moveTo>
                  <a:lnTo>
                    <a:pt x="1343907" y="238125"/>
                  </a:lnTo>
                  <a:lnTo>
                    <a:pt x="1343907" y="2472165"/>
                  </a:lnTo>
                  <a:lnTo>
                    <a:pt x="1105782" y="2710290"/>
                  </a:lnTo>
                  <a:lnTo>
                    <a:pt x="238125" y="2710290"/>
                  </a:lnTo>
                  <a:lnTo>
                    <a:pt x="0" y="247216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105782" y="0"/>
                  </a:lnTo>
                  <a:close/>
                </a:path>
              </a:pathLst>
            </a:custGeom>
            <a:blipFill>
              <a:blip r:embed="rId4"/>
              <a:stretch>
                <a:fillRect l="-101116" t="0" r="-101116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77688" y="251801"/>
            <a:ext cx="12687323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spc="-232">
                <a:solidFill>
                  <a:srgbClr val="00FFFF"/>
                </a:solidFill>
                <a:latin typeface="Bungee"/>
                <a:ea typeface="Bungee"/>
                <a:cs typeface="Bungee"/>
                <a:sym typeface="Bungee"/>
              </a:rPr>
              <a:t>công nghệ sử dụng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1105" y="7531193"/>
            <a:ext cx="6286948" cy="2558464"/>
            <a:chOff x="0" y="0"/>
            <a:chExt cx="1753130" cy="7134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72336" y="7493093"/>
            <a:ext cx="6286948" cy="2558464"/>
            <a:chOff x="0" y="0"/>
            <a:chExt cx="1753130" cy="7134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53130" cy="713433"/>
            </a:xfrm>
            <a:custGeom>
              <a:avLst/>
              <a:gdLst/>
              <a:ahLst/>
              <a:cxnLst/>
              <a:rect r="r" b="b" t="t" l="l"/>
              <a:pathLst>
                <a:path h="713433" w="1753130">
                  <a:moveTo>
                    <a:pt x="159311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593110" y="713433"/>
                  </a:lnTo>
                  <a:lnTo>
                    <a:pt x="1753130" y="553414"/>
                  </a:lnTo>
                  <a:lnTo>
                    <a:pt x="1753130" y="160020"/>
                  </a:lnTo>
                  <a:lnTo>
                    <a:pt x="159311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63500" y="92075"/>
              <a:ext cx="1626130" cy="55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true" rot="0">
            <a:off x="7193040" y="4165712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5"/>
                </a:moveTo>
                <a:lnTo>
                  <a:pt x="381125" y="381125"/>
                </a:lnTo>
                <a:lnTo>
                  <a:pt x="381125" y="0"/>
                </a:lnTo>
                <a:lnTo>
                  <a:pt x="0" y="0"/>
                </a:lnTo>
                <a:lnTo>
                  <a:pt x="0" y="3811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726764" y="805777"/>
            <a:ext cx="1076802" cy="115313"/>
            <a:chOff x="0" y="0"/>
            <a:chExt cx="283602" cy="303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3602" cy="30371"/>
            </a:xfrm>
            <a:custGeom>
              <a:avLst/>
              <a:gdLst/>
              <a:ahLst/>
              <a:cxnLst/>
              <a:rect r="r" b="b" t="t" l="l"/>
              <a:pathLst>
                <a:path h="30371" w="283602">
                  <a:moveTo>
                    <a:pt x="0" y="0"/>
                  </a:moveTo>
                  <a:lnTo>
                    <a:pt x="283602" y="0"/>
                  </a:lnTo>
                  <a:lnTo>
                    <a:pt x="283602" y="30371"/>
                  </a:lnTo>
                  <a:lnTo>
                    <a:pt x="0" y="30371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283602" cy="1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7950" y="1575793"/>
            <a:ext cx="2658403" cy="1329201"/>
          </a:xfrm>
          <a:custGeom>
            <a:avLst/>
            <a:gdLst/>
            <a:ahLst/>
            <a:cxnLst/>
            <a:rect r="r" b="b" t="t" l="l"/>
            <a:pathLst>
              <a:path h="1329201" w="2658403">
                <a:moveTo>
                  <a:pt x="0" y="0"/>
                </a:moveTo>
                <a:lnTo>
                  <a:pt x="2658402" y="0"/>
                </a:lnTo>
                <a:lnTo>
                  <a:pt x="2658402" y="1329201"/>
                </a:lnTo>
                <a:lnTo>
                  <a:pt x="0" y="1329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35890" y="4810564"/>
            <a:ext cx="1683597" cy="1183068"/>
          </a:xfrm>
          <a:custGeom>
            <a:avLst/>
            <a:gdLst/>
            <a:ahLst/>
            <a:cxnLst/>
            <a:rect r="r" b="b" t="t" l="l"/>
            <a:pathLst>
              <a:path h="1183068" w="1683597">
                <a:moveTo>
                  <a:pt x="0" y="0"/>
                </a:moveTo>
                <a:lnTo>
                  <a:pt x="1683597" y="0"/>
                </a:lnTo>
                <a:lnTo>
                  <a:pt x="1683597" y="1183068"/>
                </a:lnTo>
                <a:lnTo>
                  <a:pt x="0" y="1183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26925" y="7759793"/>
            <a:ext cx="2017606" cy="1101408"/>
          </a:xfrm>
          <a:custGeom>
            <a:avLst/>
            <a:gdLst/>
            <a:ahLst/>
            <a:cxnLst/>
            <a:rect r="r" b="b" t="t" l="l"/>
            <a:pathLst>
              <a:path h="1101408" w="2017606">
                <a:moveTo>
                  <a:pt x="0" y="0"/>
                </a:moveTo>
                <a:lnTo>
                  <a:pt x="2017607" y="0"/>
                </a:lnTo>
                <a:lnTo>
                  <a:pt x="2017607" y="1101408"/>
                </a:lnTo>
                <a:lnTo>
                  <a:pt x="0" y="1101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254878" y="1959243"/>
            <a:ext cx="1365251" cy="1117799"/>
          </a:xfrm>
          <a:custGeom>
            <a:avLst/>
            <a:gdLst/>
            <a:ahLst/>
            <a:cxnLst/>
            <a:rect r="r" b="b" t="t" l="l"/>
            <a:pathLst>
              <a:path h="1117799" w="1365251">
                <a:moveTo>
                  <a:pt x="0" y="0"/>
                </a:moveTo>
                <a:lnTo>
                  <a:pt x="1365250" y="0"/>
                </a:lnTo>
                <a:lnTo>
                  <a:pt x="1365250" y="1117799"/>
                </a:lnTo>
                <a:lnTo>
                  <a:pt x="0" y="111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254878" y="4873115"/>
            <a:ext cx="2259221" cy="1233305"/>
          </a:xfrm>
          <a:custGeom>
            <a:avLst/>
            <a:gdLst/>
            <a:ahLst/>
            <a:cxnLst/>
            <a:rect r="r" b="b" t="t" l="l"/>
            <a:pathLst>
              <a:path h="1233305" w="2259221">
                <a:moveTo>
                  <a:pt x="0" y="0"/>
                </a:moveTo>
                <a:lnTo>
                  <a:pt x="2259221" y="0"/>
                </a:lnTo>
                <a:lnTo>
                  <a:pt x="2259221" y="1233305"/>
                </a:lnTo>
                <a:lnTo>
                  <a:pt x="0" y="12333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257818" y="7693118"/>
            <a:ext cx="2256281" cy="1231700"/>
          </a:xfrm>
          <a:custGeom>
            <a:avLst/>
            <a:gdLst/>
            <a:ahLst/>
            <a:cxnLst/>
            <a:rect r="r" b="b" t="t" l="l"/>
            <a:pathLst>
              <a:path h="1231700" w="2256281">
                <a:moveTo>
                  <a:pt x="0" y="0"/>
                </a:moveTo>
                <a:lnTo>
                  <a:pt x="2256281" y="0"/>
                </a:lnTo>
                <a:lnTo>
                  <a:pt x="2256281" y="1231700"/>
                </a:lnTo>
                <a:lnTo>
                  <a:pt x="0" y="1231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659088" y="2109051"/>
            <a:ext cx="5941781" cy="4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C# / .NET 10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2315" y="3038942"/>
            <a:ext cx="6418960" cy="10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3"/>
              </a:lnSpc>
              <a:spcBef>
                <a:spcPct val="0"/>
              </a:spcBef>
            </a:pPr>
            <a:r>
              <a:rPr lang="en-US" b="true" sz="3040" spc="-14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Ngôn ngữ lập trình và nên tảng runtime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19487" y="4928422"/>
            <a:ext cx="5941781" cy="3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899" spc="28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WINDOWS FORM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927" y="6024940"/>
            <a:ext cx="5511929" cy="95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  <a:spcBef>
                <a:spcPct val="0"/>
              </a:spcBef>
            </a:pPr>
            <a:r>
              <a:rPr lang="en-US" b="true" sz="2940" spc="-14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Frameworks xây dựng giao diện  (Server, Cliennt, ...)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49371" y="7931243"/>
            <a:ext cx="5941781" cy="4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TCP SOCKET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5890" y="9042176"/>
            <a:ext cx="5511929" cy="95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  <a:spcBef>
                <a:spcPct val="0"/>
              </a:spcBef>
            </a:pPr>
            <a:r>
              <a:rPr lang="en-US" b="true" sz="2940" spc="-14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 thức truyền tải dữ liệu thời gian thực có độ tin cậy cao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76956" y="2118576"/>
            <a:ext cx="5941781" cy="54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4099" spc="40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SQL LITE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54878" y="3237446"/>
            <a:ext cx="5511929" cy="10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3"/>
              </a:lnSpc>
              <a:spcBef>
                <a:spcPct val="0"/>
              </a:spcBef>
            </a:pPr>
            <a:r>
              <a:rPr lang="en-US" b="true" sz="3040" spc="-14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trữ dữ liệu ( thông qua Microsoft.Data.Sqlite 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04748" y="5210175"/>
            <a:ext cx="5941781" cy="53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UTF - 8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1350" y="6330794"/>
            <a:ext cx="5511929" cy="54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  <a:spcBef>
                <a:spcPct val="0"/>
              </a:spcBef>
            </a:pPr>
            <a:r>
              <a:rPr lang="en-US" b="true" sz="3340" spc="-163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Mã hóa dữ liệu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4748" y="7959818"/>
            <a:ext cx="5941781" cy="52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3899" spc="38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THREAD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21350" y="9258100"/>
            <a:ext cx="5511929" cy="45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840" spc="-13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Xử lý đồng thời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063" y="5987710"/>
            <a:ext cx="2943366" cy="4299290"/>
            <a:chOff x="0" y="0"/>
            <a:chExt cx="3924488" cy="57323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5911"/>
              <a:ext cx="3924488" cy="5676476"/>
              <a:chOff x="0" y="0"/>
              <a:chExt cx="1120172" cy="16202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20172" cy="1620244"/>
              </a:xfrm>
              <a:custGeom>
                <a:avLst/>
                <a:gdLst/>
                <a:ahLst/>
                <a:cxnLst/>
                <a:rect r="r" b="b" t="t" l="l"/>
                <a:pathLst>
                  <a:path h="1620244" w="1120172">
                    <a:moveTo>
                      <a:pt x="96015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460224"/>
                    </a:lnTo>
                    <a:lnTo>
                      <a:pt x="160020" y="1620244"/>
                    </a:lnTo>
                    <a:lnTo>
                      <a:pt x="960152" y="1620244"/>
                    </a:lnTo>
                    <a:lnTo>
                      <a:pt x="1120172" y="1460224"/>
                    </a:lnTo>
                    <a:lnTo>
                      <a:pt x="1120172" y="160020"/>
                    </a:lnTo>
                    <a:lnTo>
                      <a:pt x="960152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63500" y="92075"/>
                <a:ext cx="993172" cy="14646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03070" y="0"/>
              <a:ext cx="1318348" cy="111822"/>
              <a:chOff x="0" y="0"/>
              <a:chExt cx="260414" cy="220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60414" cy="22088"/>
              </a:xfrm>
              <a:custGeom>
                <a:avLst/>
                <a:gdLst/>
                <a:ahLst/>
                <a:cxnLst/>
                <a:rect r="r" b="b" t="t" l="l"/>
                <a:pathLst>
                  <a:path h="22088" w="260414">
                    <a:moveTo>
                      <a:pt x="0" y="0"/>
                    </a:moveTo>
                    <a:lnTo>
                      <a:pt x="260414" y="0"/>
                    </a:lnTo>
                    <a:lnTo>
                      <a:pt x="260414" y="22088"/>
                    </a:lnTo>
                    <a:lnTo>
                      <a:pt x="0" y="22088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28575"/>
                <a:ext cx="260414" cy="22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511254" y="1431835"/>
            <a:ext cx="8789931" cy="4470150"/>
          </a:xfrm>
          <a:custGeom>
            <a:avLst/>
            <a:gdLst/>
            <a:ahLst/>
            <a:cxnLst/>
            <a:rect r="r" b="b" t="t" l="l"/>
            <a:pathLst>
              <a:path h="4470150" w="8789931">
                <a:moveTo>
                  <a:pt x="0" y="0"/>
                </a:moveTo>
                <a:lnTo>
                  <a:pt x="8789931" y="0"/>
                </a:lnTo>
                <a:lnTo>
                  <a:pt x="8789931" y="4470150"/>
                </a:lnTo>
                <a:lnTo>
                  <a:pt x="0" y="447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6" t="-6554" r="-1856" b="-477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72317" y="5987710"/>
            <a:ext cx="2943366" cy="4299290"/>
            <a:chOff x="0" y="0"/>
            <a:chExt cx="3924488" cy="573238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55911"/>
              <a:ext cx="3924488" cy="5676476"/>
              <a:chOff x="0" y="0"/>
              <a:chExt cx="1120172" cy="16202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20172" cy="1620244"/>
              </a:xfrm>
              <a:custGeom>
                <a:avLst/>
                <a:gdLst/>
                <a:ahLst/>
                <a:cxnLst/>
                <a:rect r="r" b="b" t="t" l="l"/>
                <a:pathLst>
                  <a:path h="1620244" w="1120172">
                    <a:moveTo>
                      <a:pt x="96015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460224"/>
                    </a:lnTo>
                    <a:lnTo>
                      <a:pt x="160020" y="1620244"/>
                    </a:lnTo>
                    <a:lnTo>
                      <a:pt x="960152" y="1620244"/>
                    </a:lnTo>
                    <a:lnTo>
                      <a:pt x="1120172" y="1460224"/>
                    </a:lnTo>
                    <a:lnTo>
                      <a:pt x="1120172" y="160020"/>
                    </a:lnTo>
                    <a:lnTo>
                      <a:pt x="960152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63500" y="92075"/>
                <a:ext cx="993172" cy="14646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303070" y="0"/>
              <a:ext cx="1318348" cy="111822"/>
              <a:chOff x="0" y="0"/>
              <a:chExt cx="260414" cy="220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60414" cy="22088"/>
              </a:xfrm>
              <a:custGeom>
                <a:avLst/>
                <a:gdLst/>
                <a:ahLst/>
                <a:cxnLst/>
                <a:rect r="r" b="b" t="t" l="l"/>
                <a:pathLst>
                  <a:path h="22088" w="260414">
                    <a:moveTo>
                      <a:pt x="0" y="0"/>
                    </a:moveTo>
                    <a:lnTo>
                      <a:pt x="260414" y="0"/>
                    </a:lnTo>
                    <a:lnTo>
                      <a:pt x="260414" y="22088"/>
                    </a:lnTo>
                    <a:lnTo>
                      <a:pt x="0" y="22088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260414" cy="22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4141438" y="6021619"/>
            <a:ext cx="2943366" cy="4299290"/>
            <a:chOff x="0" y="0"/>
            <a:chExt cx="3924488" cy="573238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55911"/>
              <a:ext cx="3924488" cy="5676476"/>
              <a:chOff x="0" y="0"/>
              <a:chExt cx="1120172" cy="16202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20172" cy="1620244"/>
              </a:xfrm>
              <a:custGeom>
                <a:avLst/>
                <a:gdLst/>
                <a:ahLst/>
                <a:cxnLst/>
                <a:rect r="r" b="b" t="t" l="l"/>
                <a:pathLst>
                  <a:path h="1620244" w="1120172">
                    <a:moveTo>
                      <a:pt x="96015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460224"/>
                    </a:lnTo>
                    <a:lnTo>
                      <a:pt x="160020" y="1620244"/>
                    </a:lnTo>
                    <a:lnTo>
                      <a:pt x="960152" y="1620244"/>
                    </a:lnTo>
                    <a:lnTo>
                      <a:pt x="1120172" y="1460224"/>
                    </a:lnTo>
                    <a:lnTo>
                      <a:pt x="1120172" y="160020"/>
                    </a:lnTo>
                    <a:lnTo>
                      <a:pt x="960152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63500" y="92075"/>
                <a:ext cx="993172" cy="14646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03070" y="0"/>
              <a:ext cx="1318348" cy="111822"/>
              <a:chOff x="0" y="0"/>
              <a:chExt cx="260414" cy="2208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60414" cy="22088"/>
              </a:xfrm>
              <a:custGeom>
                <a:avLst/>
                <a:gdLst/>
                <a:ahLst/>
                <a:cxnLst/>
                <a:rect r="r" b="b" t="t" l="l"/>
                <a:pathLst>
                  <a:path h="22088" w="260414">
                    <a:moveTo>
                      <a:pt x="0" y="0"/>
                    </a:moveTo>
                    <a:lnTo>
                      <a:pt x="260414" y="0"/>
                    </a:lnTo>
                    <a:lnTo>
                      <a:pt x="260414" y="22088"/>
                    </a:lnTo>
                    <a:lnTo>
                      <a:pt x="0" y="22088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260414" cy="22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AutoShape 24" id="24"/>
          <p:cNvSpPr/>
          <p:nvPr/>
        </p:nvSpPr>
        <p:spPr>
          <a:xfrm>
            <a:off x="1450622" y="6698083"/>
            <a:ext cx="1262249" cy="0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981997" y="6804319"/>
            <a:ext cx="1262249" cy="0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8512876" y="6794794"/>
            <a:ext cx="1262249" cy="0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320533" y="2643558"/>
            <a:ext cx="6591812" cy="6838388"/>
          </a:xfrm>
          <a:custGeom>
            <a:avLst/>
            <a:gdLst/>
            <a:ahLst/>
            <a:cxnLst/>
            <a:rect r="r" b="b" t="t" l="l"/>
            <a:pathLst>
              <a:path h="6838388" w="6591812">
                <a:moveTo>
                  <a:pt x="0" y="0"/>
                </a:moveTo>
                <a:lnTo>
                  <a:pt x="6591812" y="0"/>
                </a:lnTo>
                <a:lnTo>
                  <a:pt x="6591812" y="6838389"/>
                </a:lnTo>
                <a:lnTo>
                  <a:pt x="0" y="683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248917" y="207556"/>
            <a:ext cx="12687323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spc="-232">
                <a:solidFill>
                  <a:srgbClr val="00FFFF"/>
                </a:solidFill>
                <a:latin typeface="Bungee"/>
                <a:ea typeface="Bungee"/>
                <a:cs typeface="Bungee"/>
                <a:sym typeface="Bungee"/>
              </a:rPr>
              <a:t>KIẾN TRÚC TỔNG THỂ HỆ THỐNG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054385"/>
            <a:ext cx="2136679" cy="4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CLIENT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49108" y="6125822"/>
            <a:ext cx="2247292" cy="4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SERVER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72342" y="6150206"/>
            <a:ext cx="2543316" cy="45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399" spc="33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SQL LITE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1254" y="6761457"/>
            <a:ext cx="3475326" cy="352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69" indent="-328185" lvl="1">
              <a:lnSpc>
                <a:spcPts val="4013"/>
              </a:lnSpc>
              <a:buFont typeface="Arial"/>
              <a:buChar char="•"/>
            </a:pPr>
            <a:r>
              <a:rPr lang="en-US" b="true" sz="3040" spc="-14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Gửi yêu cầu đến Server.</a:t>
            </a:r>
          </a:p>
          <a:p>
            <a:pPr algn="l" marL="656369" indent="-328185" lvl="1">
              <a:lnSpc>
                <a:spcPts val="4013"/>
              </a:lnSpc>
              <a:buFont typeface="Arial"/>
              <a:buChar char="•"/>
            </a:pPr>
            <a:r>
              <a:rPr lang="en-US" b="true" sz="3040" spc="-14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Nhận dữ liệu phản hồi.</a:t>
            </a:r>
          </a:p>
          <a:p>
            <a:pPr algn="l" marL="656369" indent="-328185" lvl="1">
              <a:lnSpc>
                <a:spcPts val="4013"/>
              </a:lnSpc>
              <a:buFont typeface="Arial"/>
              <a:buChar char="•"/>
            </a:pPr>
            <a:r>
              <a:rPr lang="en-US" b="true" sz="3040" spc="-14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Hiển thị giao diện chat.</a:t>
            </a:r>
          </a:p>
          <a:p>
            <a:pPr algn="l">
              <a:lnSpc>
                <a:spcPts val="4013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4106080" y="6775744"/>
            <a:ext cx="3014083" cy="370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654" indent="-241827" lvl="1">
              <a:lnSpc>
                <a:spcPts val="2957"/>
              </a:lnSpc>
              <a:buFont typeface="Arial"/>
              <a:buChar char="•"/>
            </a:pP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Quản lý kết nối TCP Socket.</a:t>
            </a:r>
          </a:p>
          <a:p>
            <a:pPr algn="l" marL="483654" indent="-241827" lvl="1">
              <a:lnSpc>
                <a:spcPts val="2957"/>
              </a:lnSpc>
              <a:buFont typeface="Arial"/>
              <a:buChar char="•"/>
            </a:pP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Xử</a:t>
            </a: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lý Protocol.</a:t>
            </a:r>
          </a:p>
          <a:p>
            <a:pPr algn="l" marL="483654" indent="-241827" lvl="1">
              <a:lnSpc>
                <a:spcPts val="2957"/>
              </a:lnSpc>
              <a:buFont typeface="Arial"/>
              <a:buChar char="•"/>
            </a:pP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Quản lý User Online.</a:t>
            </a:r>
          </a:p>
          <a:p>
            <a:pPr algn="l" marL="483654" indent="-241827" lvl="1">
              <a:lnSpc>
                <a:spcPts val="2957"/>
              </a:lnSpc>
              <a:buFont typeface="Arial"/>
              <a:buChar char="•"/>
            </a:pP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Chuy</a:t>
            </a: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ển tiếp tin nhắn.</a:t>
            </a:r>
          </a:p>
          <a:p>
            <a:pPr algn="l" marL="483654" indent="-241827" lvl="1">
              <a:lnSpc>
                <a:spcPts val="2957"/>
              </a:lnSpc>
              <a:buFont typeface="Arial"/>
              <a:buChar char="•"/>
            </a:pPr>
            <a:r>
              <a:rPr lang="en-US" b="true" sz="2240" spc="-10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và tải lịch sử chat.</a:t>
            </a:r>
          </a:p>
          <a:p>
            <a:pPr algn="l">
              <a:lnSpc>
                <a:spcPts val="2957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7601600" y="7209132"/>
            <a:ext cx="3014083" cy="227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601" indent="-295801" lvl="1">
              <a:lnSpc>
                <a:spcPts val="3617"/>
              </a:lnSpc>
              <a:buFont typeface="Arial"/>
              <a:buChar char="•"/>
            </a:pPr>
            <a:r>
              <a:rPr lang="en-US" b="true" sz="2740" spc="-1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tài khoản.</a:t>
            </a:r>
          </a:p>
          <a:p>
            <a:pPr algn="l" marL="591601" indent="-295801" lvl="1">
              <a:lnSpc>
                <a:spcPts val="3617"/>
              </a:lnSpc>
              <a:buFont typeface="Arial"/>
              <a:buChar char="•"/>
            </a:pPr>
            <a:r>
              <a:rPr lang="en-US" b="true" sz="2740" spc="-1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</a:t>
            </a:r>
            <a:r>
              <a:rPr lang="en-US" b="true" sz="2740" spc="-1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tin nhắn.</a:t>
            </a:r>
          </a:p>
          <a:p>
            <a:pPr algn="l" marL="591601" indent="-295801" lvl="1">
              <a:lnSpc>
                <a:spcPts val="3617"/>
              </a:lnSpc>
              <a:buFont typeface="Arial"/>
              <a:buChar char="•"/>
            </a:pPr>
            <a:r>
              <a:rPr lang="en-US" b="true" sz="2740" spc="-1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thông tin Reply.</a:t>
            </a:r>
          </a:p>
          <a:p>
            <a:pPr algn="l">
              <a:lnSpc>
                <a:spcPts val="3617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732354" y="2017130"/>
            <a:ext cx="5972333" cy="45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399" spc="33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LUỒNG  XỬ LÝ DỮ LIỆU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1733" y="588005"/>
            <a:ext cx="1721906" cy="128024"/>
            <a:chOff x="0" y="0"/>
            <a:chExt cx="453506" cy="33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6" cy="33718"/>
            </a:xfrm>
            <a:custGeom>
              <a:avLst/>
              <a:gdLst/>
              <a:ahLst/>
              <a:cxnLst/>
              <a:rect r="r" b="b" t="t" l="l"/>
              <a:pathLst>
                <a:path h="33718" w="453506">
                  <a:moveTo>
                    <a:pt x="0" y="0"/>
                  </a:moveTo>
                  <a:lnTo>
                    <a:pt x="453506" y="0"/>
                  </a:lnTo>
                  <a:lnTo>
                    <a:pt x="453506" y="33718"/>
                  </a:lnTo>
                  <a:lnTo>
                    <a:pt x="0" y="3371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53506" cy="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6004" y="46739"/>
            <a:ext cx="12687323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spc="-232">
                <a:solidFill>
                  <a:srgbClr val="00FFFF"/>
                </a:solidFill>
                <a:latin typeface="Bungee"/>
                <a:ea typeface="Bungee"/>
                <a:cs typeface="Bungee"/>
                <a:sym typeface="Bungee"/>
              </a:rPr>
              <a:t>GIAO DIỆN SERVER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36004" y="652017"/>
            <a:ext cx="1721906" cy="128024"/>
            <a:chOff x="0" y="0"/>
            <a:chExt cx="453506" cy="337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3506" cy="33718"/>
            </a:xfrm>
            <a:custGeom>
              <a:avLst/>
              <a:gdLst/>
              <a:ahLst/>
              <a:cxnLst/>
              <a:rect r="r" b="b" t="t" l="l"/>
              <a:pathLst>
                <a:path h="33718" w="453506">
                  <a:moveTo>
                    <a:pt x="0" y="0"/>
                  </a:moveTo>
                  <a:lnTo>
                    <a:pt x="453506" y="0"/>
                  </a:lnTo>
                  <a:lnTo>
                    <a:pt x="453506" y="33718"/>
                  </a:lnTo>
                  <a:lnTo>
                    <a:pt x="0" y="3371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453506" cy="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2266" y="1566621"/>
            <a:ext cx="10956265" cy="7872698"/>
          </a:xfrm>
          <a:custGeom>
            <a:avLst/>
            <a:gdLst/>
            <a:ahLst/>
            <a:cxnLst/>
            <a:rect r="r" b="b" t="t" l="l"/>
            <a:pathLst>
              <a:path h="7872698" w="10956265">
                <a:moveTo>
                  <a:pt x="0" y="0"/>
                </a:moveTo>
                <a:lnTo>
                  <a:pt x="10956265" y="0"/>
                </a:lnTo>
                <a:lnTo>
                  <a:pt x="10956265" y="7872698"/>
                </a:lnTo>
                <a:lnTo>
                  <a:pt x="0" y="7872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27653" y="1566621"/>
            <a:ext cx="6311972" cy="7872923"/>
            <a:chOff x="0" y="0"/>
            <a:chExt cx="8415963" cy="104972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FF313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Khu vực cấu hình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9712" y="1036454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Nhập Port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05488" y="1036454"/>
              <a:ext cx="3625776" cy="12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Key ( có hoặc không 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712" y="2109571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Mở kết nối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05488" y="2109571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Ngắt kết nối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068692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1CC9F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Khu vực quản lý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79712" y="4303639"/>
              <a:ext cx="6072528" cy="684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7" indent="-345439" lvl="1">
                <a:lnSpc>
                  <a:spcPts val="4223"/>
                </a:lnSpc>
                <a:buFont typeface="Arial"/>
                <a:buChar char="•"/>
              </a:pPr>
              <a:r>
                <a:rPr lang="en-US" sz="3199" spc="-156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Số client đang online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05488" y="4313164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5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9712" y="5377044"/>
              <a:ext cx="6728961" cy="1293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8981" indent="-319490" lvl="1">
                <a:lnSpc>
                  <a:spcPts val="3906"/>
                </a:lnSpc>
                <a:buFont typeface="Arial"/>
                <a:buChar char="•"/>
              </a:pPr>
              <a:r>
                <a:rPr lang="en-US" sz="2959" spc="-145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Danh sách client đang online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79712" y="7686975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00B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Khu vực trao đổi thông tin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9712" y="8931448"/>
              <a:ext cx="4361013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Ghi log hệ thống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9712" y="9903252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Khung chat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156518" y="8931448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Gửi tin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161088" y="9903252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6419" y="1686653"/>
            <a:ext cx="2908883" cy="7394839"/>
          </a:xfrm>
          <a:custGeom>
            <a:avLst/>
            <a:gdLst/>
            <a:ahLst/>
            <a:cxnLst/>
            <a:rect r="r" b="b" t="t" l="l"/>
            <a:pathLst>
              <a:path h="7394839" w="2908883">
                <a:moveTo>
                  <a:pt x="0" y="0"/>
                </a:moveTo>
                <a:lnTo>
                  <a:pt x="2908883" y="0"/>
                </a:lnTo>
                <a:lnTo>
                  <a:pt x="2908883" y="7394839"/>
                </a:lnTo>
                <a:lnTo>
                  <a:pt x="0" y="7394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96" t="0" r="-64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9216" y="1768982"/>
            <a:ext cx="2686026" cy="7226968"/>
          </a:xfrm>
          <a:custGeom>
            <a:avLst/>
            <a:gdLst/>
            <a:ahLst/>
            <a:cxnLst/>
            <a:rect r="r" b="b" t="t" l="l"/>
            <a:pathLst>
              <a:path h="7226968" w="2686026">
                <a:moveTo>
                  <a:pt x="0" y="0"/>
                </a:moveTo>
                <a:lnTo>
                  <a:pt x="2686026" y="0"/>
                </a:lnTo>
                <a:lnTo>
                  <a:pt x="2686026" y="7226968"/>
                </a:lnTo>
                <a:lnTo>
                  <a:pt x="0" y="7226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33" t="0" r="-20463" b="-6734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8284428" y="1230232"/>
            <a:ext cx="0" cy="7826536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9154479"/>
            <a:ext cx="8884894" cy="1132521"/>
          </a:xfrm>
          <a:custGeom>
            <a:avLst/>
            <a:gdLst/>
            <a:ahLst/>
            <a:cxnLst/>
            <a:rect r="r" b="b" t="t" l="l"/>
            <a:pathLst>
              <a:path h="1132521" w="8884894">
                <a:moveTo>
                  <a:pt x="0" y="0"/>
                </a:moveTo>
                <a:lnTo>
                  <a:pt x="8884894" y="0"/>
                </a:lnTo>
                <a:lnTo>
                  <a:pt x="8884894" y="1132521"/>
                </a:lnTo>
                <a:lnTo>
                  <a:pt x="0" y="1132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02417" y="1768982"/>
            <a:ext cx="6241821" cy="3857198"/>
          </a:xfrm>
          <a:custGeom>
            <a:avLst/>
            <a:gdLst/>
            <a:ahLst/>
            <a:cxnLst/>
            <a:rect r="r" b="b" t="t" l="l"/>
            <a:pathLst>
              <a:path h="3857198" w="6241821">
                <a:moveTo>
                  <a:pt x="0" y="0"/>
                </a:moveTo>
                <a:lnTo>
                  <a:pt x="6241821" y="0"/>
                </a:lnTo>
                <a:lnTo>
                  <a:pt x="6241821" y="3857198"/>
                </a:lnTo>
                <a:lnTo>
                  <a:pt x="0" y="3857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9598" y="716029"/>
            <a:ext cx="1857087" cy="1448528"/>
          </a:xfrm>
          <a:custGeom>
            <a:avLst/>
            <a:gdLst/>
            <a:ahLst/>
            <a:cxnLst/>
            <a:rect r="r" b="b" t="t" l="l"/>
            <a:pathLst>
              <a:path h="1448528" w="1857087">
                <a:moveTo>
                  <a:pt x="0" y="0"/>
                </a:moveTo>
                <a:lnTo>
                  <a:pt x="1857087" y="0"/>
                </a:lnTo>
                <a:lnTo>
                  <a:pt x="1857087" y="1448527"/>
                </a:lnTo>
                <a:lnTo>
                  <a:pt x="0" y="1448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192">
            <a:off x="16618463" y="775721"/>
            <a:ext cx="1271772" cy="1271772"/>
          </a:xfrm>
          <a:custGeom>
            <a:avLst/>
            <a:gdLst/>
            <a:ahLst/>
            <a:cxnLst/>
            <a:rect r="r" b="b" t="t" l="l"/>
            <a:pathLst>
              <a:path h="1271772" w="1271772">
                <a:moveTo>
                  <a:pt x="0" y="0"/>
                </a:moveTo>
                <a:lnTo>
                  <a:pt x="1271773" y="0"/>
                </a:lnTo>
                <a:lnTo>
                  <a:pt x="1271773" y="1271772"/>
                </a:lnTo>
                <a:lnTo>
                  <a:pt x="0" y="1271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6004" y="46739"/>
            <a:ext cx="12687323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spc="-232">
                <a:solidFill>
                  <a:srgbClr val="00FFFF"/>
                </a:solidFill>
                <a:latin typeface="Bungee"/>
                <a:ea typeface="Bungee"/>
                <a:cs typeface="Bungee"/>
                <a:sym typeface="Bungee"/>
              </a:rPr>
              <a:t>Mở và đóng server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2056" y="1085850"/>
            <a:ext cx="3317610" cy="45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399" spc="33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MỞ SERVER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9612" y="1213868"/>
            <a:ext cx="3630439" cy="45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399" spc="33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ĐÓNG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3145" y="2373127"/>
            <a:ext cx="4618910" cy="736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b="true" sz="2540" spc="-124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1: Nhập và kiểm tra Port</a:t>
            </a:r>
          </a:p>
          <a:p>
            <a:pPr algn="just" marL="548422" indent="-274211" lvl="1">
              <a:lnSpc>
                <a:spcPts val="3353"/>
              </a:lnSpc>
              <a:buFont typeface="Arial"/>
              <a:buChar char="•"/>
            </a:pP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Đọc Port từ giao diện và kiểm tra hợp lệ.</a:t>
            </a:r>
          </a:p>
          <a:p>
            <a:pPr algn="just">
              <a:lnSpc>
                <a:spcPts val="3353"/>
              </a:lnSpc>
            </a:pPr>
            <a:r>
              <a:rPr lang="en-US" b="true" sz="2540" spc="-124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2: Khởi tạo Socket Server</a:t>
            </a:r>
          </a:p>
          <a:p>
            <a:pPr algn="just" marL="548422" indent="-274211" lvl="1">
              <a:lnSpc>
                <a:spcPts val="3353"/>
              </a:lnSpc>
              <a:buFont typeface="Arial"/>
              <a:buChar char="•"/>
            </a:pP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 TCP Socket s</a:t>
            </a: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ử dụng IPv4.</a:t>
            </a:r>
          </a:p>
          <a:p>
            <a:pPr algn="just">
              <a:lnSpc>
                <a:spcPts val="3353"/>
              </a:lnSpc>
            </a:pPr>
            <a:r>
              <a:rPr lang="en-US" b="true" sz="2540" spc="-124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3: Gắn IP và Port</a:t>
            </a:r>
          </a:p>
          <a:p>
            <a:pPr algn="just" marL="548422" indent="-274211" lvl="1">
              <a:lnSpc>
                <a:spcPts val="3353"/>
              </a:lnSpc>
              <a:buFont typeface="Arial"/>
              <a:buChar char="•"/>
            </a:pP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Gọi Bind() để xác định địa chỉ Server.</a:t>
            </a:r>
          </a:p>
          <a:p>
            <a:pPr algn="just">
              <a:lnSpc>
                <a:spcPts val="3353"/>
              </a:lnSpc>
            </a:pPr>
            <a:r>
              <a:rPr lang="en-US" b="true" sz="2540" spc="-124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4: Chuyển sang trạng thái lắng nghe</a:t>
            </a:r>
          </a:p>
          <a:p>
            <a:pPr algn="just" marL="548422" indent="-274211" lvl="1">
              <a:lnSpc>
                <a:spcPts val="3353"/>
              </a:lnSpc>
              <a:buFont typeface="Arial"/>
              <a:buChar char="•"/>
            </a:pP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Gọi Listen() để chờ Client kết nối.</a:t>
            </a:r>
          </a:p>
          <a:p>
            <a:pPr algn="just">
              <a:lnSpc>
                <a:spcPts val="3353"/>
              </a:lnSpc>
            </a:pPr>
            <a:r>
              <a:rPr lang="en-US" b="true" sz="2540" spc="-124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5: Chấp nhận Client</a:t>
            </a:r>
          </a:p>
          <a:p>
            <a:pPr algn="just" marL="548422" indent="-274211" lvl="1">
              <a:lnSpc>
                <a:spcPts val="3353"/>
              </a:lnSpc>
              <a:buFont typeface="Arial"/>
              <a:buChar char="•"/>
            </a:pP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</a:t>
            </a:r>
            <a:r>
              <a:rPr lang="en-US" b="true" sz="2540" spc="-12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 Accept(), cập nhật Online List và ghi log.</a:t>
            </a:r>
          </a:p>
          <a:p>
            <a:pPr algn="just">
              <a:lnSpc>
                <a:spcPts val="533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364405" y="5787184"/>
            <a:ext cx="4894895" cy="469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b="true" sz="2691" spc="-131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1: Khóa danh sách Client</a:t>
            </a:r>
          </a:p>
          <a:p>
            <a:pPr algn="just" marL="581191" indent="-290595" lvl="1">
              <a:lnSpc>
                <a:spcPts val="3553"/>
              </a:lnSpc>
              <a:buFont typeface="Arial"/>
              <a:buChar char="•"/>
            </a:pPr>
            <a:r>
              <a:rPr lang="en-US" b="true" sz="2691" spc="-1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Dùng lo</a:t>
            </a:r>
            <a:r>
              <a:rPr lang="en-US" b="true" sz="2691" spc="-1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ck() để đảm bảo an toàn dữ liệu.</a:t>
            </a:r>
          </a:p>
          <a:p>
            <a:pPr algn="just">
              <a:lnSpc>
                <a:spcPts val="3553"/>
              </a:lnSpc>
            </a:pPr>
            <a:r>
              <a:rPr lang="en-US" b="true" sz="2691" spc="-131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2: Ngắt kết nối</a:t>
            </a:r>
            <a:r>
              <a:rPr lang="en-US" b="true" sz="2691" spc="-131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Clie</a:t>
            </a:r>
            <a:r>
              <a:rPr lang="en-US" b="true" sz="2691" spc="-131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nt</a:t>
            </a:r>
          </a:p>
          <a:p>
            <a:pPr algn="just" marL="581191" indent="-290595" lvl="1">
              <a:lnSpc>
                <a:spcPts val="3553"/>
              </a:lnSpc>
              <a:buFont typeface="Arial"/>
              <a:buChar char="•"/>
            </a:pPr>
            <a:r>
              <a:rPr lang="en-US" b="true" sz="2691" spc="-1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Gọi Shutdown() và Close() cho từng Client.</a:t>
            </a:r>
          </a:p>
          <a:p>
            <a:pPr algn="just">
              <a:lnSpc>
                <a:spcPts val="3553"/>
              </a:lnSpc>
            </a:pPr>
            <a:r>
              <a:rPr lang="en-US" b="true" sz="2691" spc="-131">
                <a:solidFill>
                  <a:srgbClr val="4C56A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Bước 3: Xóa danh sách Online</a:t>
            </a:r>
          </a:p>
          <a:p>
            <a:pPr algn="just" marL="581191" indent="-290595" lvl="1">
              <a:lnSpc>
                <a:spcPts val="3553"/>
              </a:lnSpc>
              <a:buFont typeface="Arial"/>
              <a:buChar char="•"/>
            </a:pPr>
            <a:r>
              <a:rPr lang="en-US" b="true" sz="2691" spc="-1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Gọ</a:t>
            </a:r>
            <a:r>
              <a:rPr lang="en-US" b="true" sz="2691" spc="-1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 Clear() và cập nhật trạng thái Server.</a:t>
            </a:r>
          </a:p>
          <a:p>
            <a:pPr algn="just">
              <a:lnSpc>
                <a:spcPts val="56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902" y="3094274"/>
            <a:ext cx="9286183" cy="4028775"/>
          </a:xfrm>
          <a:custGeom>
            <a:avLst/>
            <a:gdLst/>
            <a:ahLst/>
            <a:cxnLst/>
            <a:rect r="r" b="b" t="t" l="l"/>
            <a:pathLst>
              <a:path h="4028775" w="9286183">
                <a:moveTo>
                  <a:pt x="0" y="0"/>
                </a:moveTo>
                <a:lnTo>
                  <a:pt x="9286182" y="0"/>
                </a:lnTo>
                <a:lnTo>
                  <a:pt x="9286182" y="4028774"/>
                </a:lnTo>
                <a:lnTo>
                  <a:pt x="0" y="402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350" y="1113287"/>
            <a:ext cx="17259300" cy="83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8686" spc="-191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XỬ LÝ ĐỒNG THỜI NHIỀU CLIENT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81771" y="3629957"/>
            <a:ext cx="8487179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QUY TRÌNH TIẾP NHẬN &amp; XỬ LÝ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961" y="2334131"/>
            <a:ext cx="9249627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MÔ HÌNH KIẾN TRÚC LUỒNG XỬ LÝ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36591" y="4333685"/>
            <a:ext cx="3248289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1.Client kết nối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80181" y="4333685"/>
            <a:ext cx="366742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spcBef>
                <a:spcPct val="0"/>
              </a:spcBef>
              <a:buAutoNum type="arabicPeriod" startAt="1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Server accept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70614" y="6319457"/>
            <a:ext cx="441738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6.Phân tích Protocol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0181" y="5326571"/>
            <a:ext cx="421753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spcBef>
                <a:spcPct val="0"/>
              </a:spcBef>
              <a:buAutoNum type="arabicPeriod" startAt="1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 Thread xử lý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3069" y="5326571"/>
            <a:ext cx="431754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spcBef>
                <a:spcPct val="0"/>
              </a:spcBef>
              <a:buAutoNum type="arabicPeriod" startAt="1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 socket riêng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6158" y="6319457"/>
            <a:ext cx="403402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spcBef>
                <a:spcPct val="0"/>
              </a:spcBef>
              <a:buAutoNum type="arabicPeriod" startAt="1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Receive dữ liệu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3902" y="7551673"/>
            <a:ext cx="8487179" cy="55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4199" spc="41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KỸ THUẬT &amp; CÚ PHÁP C#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6840" y="8425687"/>
            <a:ext cx="5547207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Thread-per-Client</a:t>
            </a:r>
          </a:p>
          <a:p>
            <a:pPr algn="l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new Thread(HandleClient);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25810" y="8425687"/>
            <a:ext cx="3636381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Danh sách Client</a:t>
            </a:r>
          </a:p>
          <a:p>
            <a:pPr algn="l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List&lt;Socket&gt;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31255" y="8425687"/>
            <a:ext cx="4588211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Đồng bộ tài nguyên</a:t>
            </a:r>
          </a:p>
          <a:p>
            <a:pPr algn="l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lock(listClientOnline)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677" y="1884786"/>
            <a:ext cx="10868377" cy="7858734"/>
          </a:xfrm>
          <a:custGeom>
            <a:avLst/>
            <a:gdLst/>
            <a:ahLst/>
            <a:cxnLst/>
            <a:rect r="r" b="b" t="t" l="l"/>
            <a:pathLst>
              <a:path h="7858734" w="10868377">
                <a:moveTo>
                  <a:pt x="0" y="0"/>
                </a:moveTo>
                <a:lnTo>
                  <a:pt x="10868378" y="0"/>
                </a:lnTo>
                <a:lnTo>
                  <a:pt x="10868378" y="7858734"/>
                </a:lnTo>
                <a:lnTo>
                  <a:pt x="0" y="7858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" t="0" r="-15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78898" y="2026203"/>
            <a:ext cx="3499560" cy="8115525"/>
          </a:xfrm>
          <a:custGeom>
            <a:avLst/>
            <a:gdLst/>
            <a:ahLst/>
            <a:cxnLst/>
            <a:rect r="r" b="b" t="t" l="l"/>
            <a:pathLst>
              <a:path h="8115525" w="3499560">
                <a:moveTo>
                  <a:pt x="0" y="0"/>
                </a:moveTo>
                <a:lnTo>
                  <a:pt x="3499560" y="0"/>
                </a:lnTo>
                <a:lnTo>
                  <a:pt x="3499560" y="8115525"/>
                </a:lnTo>
                <a:lnTo>
                  <a:pt x="0" y="8115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8301" y="3840264"/>
            <a:ext cx="2875337" cy="5739081"/>
          </a:xfrm>
          <a:custGeom>
            <a:avLst/>
            <a:gdLst/>
            <a:ahLst/>
            <a:cxnLst/>
            <a:rect r="r" b="b" t="t" l="l"/>
            <a:pathLst>
              <a:path h="5739081" w="2875337">
                <a:moveTo>
                  <a:pt x="0" y="0"/>
                </a:moveTo>
                <a:lnTo>
                  <a:pt x="2875338" y="0"/>
                </a:lnTo>
                <a:lnTo>
                  <a:pt x="2875338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4495" y="266556"/>
            <a:ext cx="12687323" cy="110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spc="-232">
                <a:solidFill>
                  <a:srgbClr val="00FFFF"/>
                </a:solidFill>
                <a:latin typeface="Bungee"/>
                <a:ea typeface="Bungee"/>
                <a:cs typeface="Bungee"/>
                <a:sym typeface="Bungee"/>
              </a:rPr>
              <a:t>QUẢN LÝ USER ONLINE VÀ  LOG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8759" y="1388028"/>
            <a:ext cx="382954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 spc="24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LUỒNG XỬ LÝ KHI CLIENT ĐĂNG NHẬP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21242" y="2715390"/>
            <a:ext cx="296675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 spc="249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LUỒNG XỬ LÝ KHI CLIENT NGẮT KẾT NỐI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878175" y="1205662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4"/>
                </a:moveTo>
                <a:lnTo>
                  <a:pt x="381125" y="381124"/>
                </a:lnTo>
                <a:lnTo>
                  <a:pt x="381125" y="0"/>
                </a:lnTo>
                <a:lnTo>
                  <a:pt x="0" y="0"/>
                </a:lnTo>
                <a:lnTo>
                  <a:pt x="0" y="3811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642" y="3068812"/>
            <a:ext cx="5502621" cy="3037540"/>
          </a:xfrm>
          <a:custGeom>
            <a:avLst/>
            <a:gdLst/>
            <a:ahLst/>
            <a:cxnLst/>
            <a:rect r="r" b="b" t="t" l="l"/>
            <a:pathLst>
              <a:path h="3037540" w="5502621">
                <a:moveTo>
                  <a:pt x="0" y="0"/>
                </a:moveTo>
                <a:lnTo>
                  <a:pt x="5502621" y="0"/>
                </a:lnTo>
                <a:lnTo>
                  <a:pt x="5502621" y="3037541"/>
                </a:lnTo>
                <a:lnTo>
                  <a:pt x="0" y="303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50688" y="3068812"/>
            <a:ext cx="6134553" cy="2107770"/>
          </a:xfrm>
          <a:custGeom>
            <a:avLst/>
            <a:gdLst/>
            <a:ahLst/>
            <a:cxnLst/>
            <a:rect r="r" b="b" t="t" l="l"/>
            <a:pathLst>
              <a:path h="2107770" w="6134553">
                <a:moveTo>
                  <a:pt x="0" y="0"/>
                </a:moveTo>
                <a:lnTo>
                  <a:pt x="6134554" y="0"/>
                </a:lnTo>
                <a:lnTo>
                  <a:pt x="6134554" y="2107770"/>
                </a:lnTo>
                <a:lnTo>
                  <a:pt x="0" y="2107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37667" y="3068812"/>
            <a:ext cx="5748892" cy="1762994"/>
          </a:xfrm>
          <a:custGeom>
            <a:avLst/>
            <a:gdLst/>
            <a:ahLst/>
            <a:cxnLst/>
            <a:rect r="r" b="b" t="t" l="l"/>
            <a:pathLst>
              <a:path h="1762994" w="5748892">
                <a:moveTo>
                  <a:pt x="0" y="0"/>
                </a:moveTo>
                <a:lnTo>
                  <a:pt x="5748892" y="0"/>
                </a:lnTo>
                <a:lnTo>
                  <a:pt x="5748892" y="1762994"/>
                </a:lnTo>
                <a:lnTo>
                  <a:pt x="0" y="17629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24305"/>
            <a:ext cx="15519145" cy="81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8286" spc="-182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XỬ LÝ TIN NHẮN PHÍA SERVER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4282" y="2248901"/>
            <a:ext cx="3719528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PUBLIC CHAT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3136" y="2248901"/>
            <a:ext cx="4138663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PRIVATE CHAT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37667" y="2248901"/>
            <a:ext cx="4872147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REPLY MESSAGE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507" y="6163503"/>
            <a:ext cx="4453300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 b="true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&lt;/&gt;</a:t>
            </a:r>
            <a:r>
              <a:rPr lang="en-US" sz="3600" spc="-176" b="true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</a:t>
            </a: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C#</a:t>
            </a:r>
          </a:p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BroadcastMessage()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642" y="7581394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Gửi đến tất cả Client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642" y="8307580"/>
            <a:ext cx="227426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Ghi log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5642" y="9033766"/>
            <a:ext cx="371504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Database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2450" y="5481382"/>
            <a:ext cx="4453300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 b="true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&lt;/&gt; </a:t>
            </a:r>
            <a:r>
              <a:rPr lang="en-US" sz="3600" spc="-176" b="true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C#</a:t>
            </a:r>
          </a:p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</a:t>
            </a: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rgetSocket.Send()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2450" y="7036183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Tìm đúng Socket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24520" y="7990969"/>
            <a:ext cx="5051030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Chỉ gửi đúng người nhận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01343" y="5618292"/>
            <a:ext cx="554848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người được reply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5242" y="6613241"/>
            <a:ext cx="5051030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Lưu nội dung được reply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01343" y="8184675"/>
            <a:ext cx="5051030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Gửi lại đúng định dạng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2561454" y="2034307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6074476" y="2147138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475" y="2086007"/>
            <a:ext cx="11730208" cy="7500156"/>
          </a:xfrm>
          <a:custGeom>
            <a:avLst/>
            <a:gdLst/>
            <a:ahLst/>
            <a:cxnLst/>
            <a:rect r="r" b="b" t="t" l="l"/>
            <a:pathLst>
              <a:path h="7500156" w="11730208">
                <a:moveTo>
                  <a:pt x="0" y="0"/>
                </a:moveTo>
                <a:lnTo>
                  <a:pt x="11730208" y="0"/>
                </a:lnTo>
                <a:lnTo>
                  <a:pt x="11730208" y="7500157"/>
                </a:lnTo>
                <a:lnTo>
                  <a:pt x="0" y="7500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3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7219" y="847338"/>
            <a:ext cx="9258329" cy="81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8286" spc="-182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GIAO DIỆN CLIENT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87020" y="2086007"/>
            <a:ext cx="6311972" cy="6939473"/>
            <a:chOff x="0" y="0"/>
            <a:chExt cx="8415963" cy="925263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FF313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Khu vực kết nối và định danh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79712" y="1036454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IP Server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05488" y="1036454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Username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79712" y="2109571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Port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05488" y="2109571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Key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068692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00B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Tác vụ hệ thống &amp; quản lý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79712" y="4313164"/>
              <a:ext cx="2857363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Kết nối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05488" y="4313164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Ngắt kết nối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9712" y="5386569"/>
              <a:ext cx="397680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Quản lý Avatar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712" y="6442375"/>
              <a:ext cx="8236251" cy="765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2"/>
                </a:lnSpc>
              </a:pPr>
              <a:r>
                <a:rPr lang="en-US" sz="3600" spc="-176" b="true">
                  <a:solidFill>
                    <a:srgbClr val="FFDE5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Hộp thoại trao đổi thông tin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9712" y="7686848"/>
              <a:ext cx="4361013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Grid User Online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9712" y="8658652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Khung chat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56518" y="7686848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Gửi tin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61088" y="8658652"/>
              <a:ext cx="3625776" cy="593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95"/>
                </a:lnSpc>
                <a:buFont typeface="Arial"/>
                <a:buChar char="•"/>
              </a:pPr>
              <a:r>
                <a:rPr lang="en-US" sz="2799" spc="-137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Logout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640" y="2301610"/>
            <a:ext cx="6296718" cy="8004440"/>
          </a:xfrm>
          <a:custGeom>
            <a:avLst/>
            <a:gdLst/>
            <a:ahLst/>
            <a:cxnLst/>
            <a:rect r="r" b="b" t="t" l="l"/>
            <a:pathLst>
              <a:path h="8004440" w="6296718">
                <a:moveTo>
                  <a:pt x="0" y="0"/>
                </a:moveTo>
                <a:lnTo>
                  <a:pt x="6296718" y="0"/>
                </a:lnTo>
                <a:lnTo>
                  <a:pt x="6296718" y="8004440"/>
                </a:lnTo>
                <a:lnTo>
                  <a:pt x="0" y="8004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09115" y="688491"/>
            <a:ext cx="13603093" cy="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8799" spc="-193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CLIENT KẾT NỐI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0456" y="2403490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⌨️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0456" y="472479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0456" y="7026497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▶️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0456" y="926783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1CC9F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✔️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5499" y="2807589"/>
            <a:ext cx="6177188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Phân hệ chức năng Socket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05271" y="7567813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Sai địa chỉ 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3617" y="4997397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Nhận dữ liệu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75221" y="3895725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Kết nối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75221" y="4997397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Ngắt kết nối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5499" y="6417765"/>
            <a:ext cx="6177188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 spc="-176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Kịch bản xử lý lỗi ngoại lệ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33617" y="3895725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Tạo TcpClient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75221" y="7567813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Sai cổng 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05271" y="8722624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Server chưa mở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33644" y="8713099"/>
            <a:ext cx="392565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Mất kết nối mạng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5983" y="280758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🗂️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65037" y="3895725"/>
            <a:ext cx="70187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📦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69788" y="389572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🔗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8700" y="4997397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☁️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8211" y="4997397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22859" y="6411355"/>
            <a:ext cx="70187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BE1F1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⚠️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19299" y="7567813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✖️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50738" y="7567813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✖️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28700" y="8665474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🧯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69788" y="8722624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📶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613223"/>
            <a:ext cx="6177188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Quy trình kết nối mạng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2436" y="164872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617" y="3095821"/>
            <a:ext cx="4749508" cy="1903854"/>
          </a:xfrm>
          <a:custGeom>
            <a:avLst/>
            <a:gdLst/>
            <a:ahLst/>
            <a:cxnLst/>
            <a:rect r="r" b="b" t="t" l="l"/>
            <a:pathLst>
              <a:path h="1903854" w="4749508">
                <a:moveTo>
                  <a:pt x="0" y="0"/>
                </a:moveTo>
                <a:lnTo>
                  <a:pt x="4749509" y="0"/>
                </a:lnTo>
                <a:lnTo>
                  <a:pt x="4749509" y="1903854"/>
                </a:lnTo>
                <a:lnTo>
                  <a:pt x="0" y="1903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6235" y="3200686"/>
            <a:ext cx="5477580" cy="1496781"/>
          </a:xfrm>
          <a:custGeom>
            <a:avLst/>
            <a:gdLst/>
            <a:ahLst/>
            <a:cxnLst/>
            <a:rect r="r" b="b" t="t" l="l"/>
            <a:pathLst>
              <a:path h="1496781" w="5477580">
                <a:moveTo>
                  <a:pt x="0" y="0"/>
                </a:moveTo>
                <a:lnTo>
                  <a:pt x="5477580" y="0"/>
                </a:lnTo>
                <a:lnTo>
                  <a:pt x="5477580" y="1496780"/>
                </a:lnTo>
                <a:lnTo>
                  <a:pt x="0" y="149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99114" y="3200686"/>
            <a:ext cx="6727071" cy="1798989"/>
          </a:xfrm>
          <a:custGeom>
            <a:avLst/>
            <a:gdLst/>
            <a:ahLst/>
            <a:cxnLst/>
            <a:rect r="r" b="b" t="t" l="l"/>
            <a:pathLst>
              <a:path h="1798989" w="6727071">
                <a:moveTo>
                  <a:pt x="0" y="0"/>
                </a:moveTo>
                <a:lnTo>
                  <a:pt x="6727071" y="0"/>
                </a:lnTo>
                <a:lnTo>
                  <a:pt x="6727071" y="1798989"/>
                </a:lnTo>
                <a:lnTo>
                  <a:pt x="0" y="1798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2686" y="871751"/>
            <a:ext cx="17259300" cy="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8799" spc="-193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CHỨC NĂNG CHAT PHÍA CLIENT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999" y="2248901"/>
            <a:ext cx="3719528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PUBLIC CHAT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715" y="5596656"/>
            <a:ext cx="3007751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Nhập nội dung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715" y="7963428"/>
            <a:ext cx="3220674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Hiển thị tin nhắn chung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9715" y="6780042"/>
            <a:ext cx="292461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Gửi lên Server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26952" y="2248901"/>
            <a:ext cx="4138663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PRIVATE CHAT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9771" y="5702213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Chọn User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9771" y="6884052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Gửi riêng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9771" y="8038863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Bảo mật hiển thị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36970" y="5701440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Chọn tin nhắn cũ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36970" y="6884826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Hiển thị phần đang reply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36970" y="8066665"/>
            <a:ext cx="505103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Gửi kèm dữ liệu reply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89839" y="2277476"/>
            <a:ext cx="4872147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3599" spc="359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REPLY MESSAGE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4282" y="5596656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4282" y="6780042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4282" y="7928217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🖥️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68905" y="3433230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🔒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4338" y="5702213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4338" y="688559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🛡️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74338" y="8067438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👁️‍🗨️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84406" y="221080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↩️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21519" y="221159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66" y="221159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🌐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84406" y="5701440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🔍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84406" y="6884826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👁️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84406" y="8038090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🚀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2373822" y="2034307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5278657" y="2220761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897" y="908408"/>
            <a:ext cx="19261889" cy="78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8000" spc="-176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THIẾT KẾ APPLICATION PROTOCOL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4649" y="2170162"/>
            <a:ext cx="446160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Nguyên tắc thiết kế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1723" y="3227014"/>
            <a:ext cx="329411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PREFIX</a:t>
            </a: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: </a:t>
            </a:r>
            <a:r>
              <a:rPr lang="en-US" sz="3600" spc="-176">
                <a:solidFill>
                  <a:srgbClr val="1CC9F1"/>
                </a:solidFill>
                <a:latin typeface="Noto Sans"/>
                <a:ea typeface="Noto Sans"/>
                <a:cs typeface="Noto Sans"/>
                <a:sym typeface="Noto Sans"/>
              </a:rPr>
              <a:t>payload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51480"/>
            <a:ext cx="223080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Dễ đọc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976108"/>
            <a:ext cx="269440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Dễ debug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797544"/>
            <a:ext cx="3161948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Dễ mở rộng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6226" y="2091574"/>
            <a:ext cx="305180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Một số Protocol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6226" y="3014958"/>
            <a:ext cx="446160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LOGIN: </a:t>
            </a:r>
            <a:r>
              <a:rPr lang="en-US" sz="3600" spc="-176">
                <a:solidFill>
                  <a:srgbClr val="1CC9F1"/>
                </a:solidFill>
                <a:latin typeface="Noto Sans"/>
                <a:ea typeface="Noto Sans"/>
                <a:cs typeface="Noto Sans"/>
                <a:sym typeface="Noto Sans"/>
              </a:rPr>
              <a:t>Hieu|123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06226" y="3799031"/>
            <a:ext cx="446160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PRIVATE: </a:t>
            </a:r>
            <a:r>
              <a:rPr lang="en-US" sz="3600" spc="-176">
                <a:solidFill>
                  <a:srgbClr val="1CC9F1"/>
                </a:solidFill>
                <a:latin typeface="Noto Sans"/>
                <a:ea typeface="Noto Sans"/>
                <a:cs typeface="Noto Sans"/>
                <a:sym typeface="Noto Sans"/>
              </a:rPr>
              <a:t>Nam|Hello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06226" y="4582367"/>
            <a:ext cx="446160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LOAD_PUBLIC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06226" y="5412322"/>
            <a:ext cx="684064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REPLY_PUBLIC: </a:t>
            </a:r>
            <a:r>
              <a:rPr lang="en-US" sz="3600" spc="-176">
                <a:solidFill>
                  <a:srgbClr val="1CC9F1"/>
                </a:solidFill>
                <a:latin typeface="Noto Sans"/>
                <a:ea typeface="Noto Sans"/>
                <a:cs typeface="Noto Sans"/>
                <a:sym typeface="Noto Sans"/>
              </a:rPr>
              <a:t>Hieu|Xin chào|Ok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06226" y="6386158"/>
            <a:ext cx="503433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Phân tách tham số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06226" y="7312368"/>
            <a:ext cx="503433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Gói không tham số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95174" y="2091574"/>
            <a:ext cx="305180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Server xử lý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78719" y="2984261"/>
            <a:ext cx="446160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StartsWith()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8719" y="3772225"/>
            <a:ext cx="209716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Substring()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38024" y="4560189"/>
            <a:ext cx="144077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Split('|')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5984" y="2170162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DE5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⚙️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00794" y="2093650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600" spc="-17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63183" y="5684927"/>
            <a:ext cx="4608141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Xử lý chuỗi  nguyên bản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53658" y="7106438"/>
            <a:ext cx="4180074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An toàn hệ thống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89741" y="216282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🐚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2861006" y="1964415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384977" y="1964415"/>
            <a:ext cx="0" cy="7582769"/>
          </a:xfrm>
          <a:prstGeom prst="line">
            <a:avLst/>
          </a:prstGeom>
          <a:ln cap="flat" w="6667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89006"/>
            <a:ext cx="16230600" cy="1348388"/>
          </a:xfrm>
          <a:custGeom>
            <a:avLst/>
            <a:gdLst/>
            <a:ahLst/>
            <a:cxnLst/>
            <a:rect r="r" b="b" t="t" l="l"/>
            <a:pathLst>
              <a:path h="1348388" w="16230600">
                <a:moveTo>
                  <a:pt x="0" y="0"/>
                </a:moveTo>
                <a:lnTo>
                  <a:pt x="16230600" y="0"/>
                </a:lnTo>
                <a:lnTo>
                  <a:pt x="16230600" y="1348389"/>
                </a:lnTo>
                <a:lnTo>
                  <a:pt x="0" y="1348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0700"/>
            <a:ext cx="15489196" cy="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sz="8799" spc="-193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CLASS DÙNG CHUNG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5521" y="3963962"/>
            <a:ext cx="173365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Packet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4690" y="4950943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Đóng gói dữ liệu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64690" y="5810631"/>
            <a:ext cx="4877161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Định dạng Protocol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5521" y="6974967"/>
            <a:ext cx="1733655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4690" y="7958328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Xử lý nghiệp vụ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0119" y="3963962"/>
            <a:ext cx="212659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Repository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10821" y="5098414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Thao tác 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0821" y="5810631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Mã nguồn sạch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94874" y="6974967"/>
            <a:ext cx="3803129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DatabaseHelper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0821" y="7958328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Kết nối SQLite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0821" y="8674989"/>
            <a:ext cx="511292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Quản lý Connection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74575" y="2613645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7838691" y="2851770"/>
            <a:ext cx="9608587" cy="4474152"/>
          </a:xfrm>
          <a:custGeom>
            <a:avLst/>
            <a:gdLst/>
            <a:ahLst/>
            <a:cxnLst/>
            <a:rect r="r" b="b" t="t" l="l"/>
            <a:pathLst>
              <a:path h="4474152" w="9608587">
                <a:moveTo>
                  <a:pt x="0" y="0"/>
                </a:moveTo>
                <a:lnTo>
                  <a:pt x="9608588" y="0"/>
                </a:lnTo>
                <a:lnTo>
                  <a:pt x="9608588" y="4474153"/>
                </a:lnTo>
                <a:lnTo>
                  <a:pt x="0" y="4474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3959" y="837947"/>
            <a:ext cx="14703320" cy="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8799" spc="-193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DATABASE &amp; HISTORY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575" y="1648073"/>
            <a:ext cx="4143676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Cấu trúc dữ liệu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6606" y="1882125"/>
            <a:ext cx="79158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Luồng hoạt động của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6606" y="7512350"/>
            <a:ext cx="79158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Các loại tin nhắn được lưu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23781" y="8443895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Public Chat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4657" y="8443895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Private Chat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23781" y="9227231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Reply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24657" y="9227231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System Message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152" y="3139563"/>
            <a:ext cx="9921876" cy="7031811"/>
          </a:xfrm>
          <a:custGeom>
            <a:avLst/>
            <a:gdLst/>
            <a:ahLst/>
            <a:cxnLst/>
            <a:rect r="r" b="b" t="t" l="l"/>
            <a:pathLst>
              <a:path h="7031811" w="9921876">
                <a:moveTo>
                  <a:pt x="0" y="0"/>
                </a:moveTo>
                <a:lnTo>
                  <a:pt x="9921875" y="0"/>
                </a:lnTo>
                <a:lnTo>
                  <a:pt x="9921875" y="7031811"/>
                </a:lnTo>
                <a:lnTo>
                  <a:pt x="0" y="703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2940" y="1018432"/>
            <a:ext cx="13865051" cy="11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12339" spc="-271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LOAD HISTORY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7719" y="2117291"/>
            <a:ext cx="545347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Quy trình load History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29811" y="2659074"/>
            <a:ext cx="545347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Chức năng tải dữ liệu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47538" y="3740849"/>
            <a:ext cx="5296295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Public History: chỉ tải lịch sử chat chung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47538" y="5238560"/>
            <a:ext cx="5296295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Private History: chỉ tải đúng lịch sử chat riêng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29811" y="6755321"/>
            <a:ext cx="676594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Xử lý lỗi ngoại lệ &amp; bảo mật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7094" y="7786878"/>
            <a:ext cx="4143676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Chưa có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7094" y="8674989"/>
            <a:ext cx="477237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3131"/>
                </a:solidFill>
                <a:latin typeface="Noto Sans"/>
                <a:ea typeface="Noto Sans"/>
                <a:cs typeface="Noto Sans"/>
                <a:sym typeface="Noto Sans"/>
              </a:rPr>
              <a:t>Bảo mật thông tin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4378" y="277034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7094" y="374084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27094" y="5265992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4378" y="6834188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⚠️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03294" y="7786878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03294" y="867498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🛡️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878175" y="1268912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5"/>
                </a:moveTo>
                <a:lnTo>
                  <a:pt x="381125" y="381125"/>
                </a:lnTo>
                <a:lnTo>
                  <a:pt x="381125" y="0"/>
                </a:lnTo>
                <a:lnTo>
                  <a:pt x="0" y="0"/>
                </a:lnTo>
                <a:lnTo>
                  <a:pt x="0" y="3811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343" y="4010078"/>
            <a:ext cx="10132705" cy="5248222"/>
          </a:xfrm>
          <a:custGeom>
            <a:avLst/>
            <a:gdLst/>
            <a:ahLst/>
            <a:cxnLst/>
            <a:rect r="r" b="b" t="t" l="l"/>
            <a:pathLst>
              <a:path h="5248222" w="10132705">
                <a:moveTo>
                  <a:pt x="0" y="0"/>
                </a:moveTo>
                <a:lnTo>
                  <a:pt x="10132706" y="0"/>
                </a:lnTo>
                <a:lnTo>
                  <a:pt x="10132706" y="5248222"/>
                </a:lnTo>
                <a:lnTo>
                  <a:pt x="0" y="5248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87682"/>
            <a:ext cx="15849475" cy="84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6"/>
              </a:lnSpc>
            </a:pPr>
            <a:r>
              <a:rPr lang="en-US" sz="8800" spc="-193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TRIỂN KHAI TRÊN MẠNG 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8331" y="2735633"/>
            <a:ext cx="6370326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Quy Trình thiết lập kết nối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7869" y="2659074"/>
            <a:ext cx="6370326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Mô hình mạng 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4438" y="3971978"/>
            <a:ext cx="551811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1.Lấy địa chỉ IPv4 của server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24438" y="8468037"/>
            <a:ext cx="551811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5.Thiết lập kết nối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4438" y="7494201"/>
            <a:ext cx="551811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4.Nhập IP và Port và Client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4438" y="5920290"/>
            <a:ext cx="5518112" cy="118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3.Cho phép kết nối Firewall cục bộ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4438" y="4946454"/>
            <a:ext cx="551811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2.Mở cổng Port trên Firewall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41144" y="1171856"/>
            <a:ext cx="12500406" cy="8800623"/>
          </a:xfrm>
          <a:custGeom>
            <a:avLst/>
            <a:gdLst/>
            <a:ahLst/>
            <a:cxnLst/>
            <a:rect r="r" b="b" t="t" l="l"/>
            <a:pathLst>
              <a:path h="8800623" w="12500406">
                <a:moveTo>
                  <a:pt x="0" y="0"/>
                </a:moveTo>
                <a:lnTo>
                  <a:pt x="12500406" y="0"/>
                </a:lnTo>
                <a:lnTo>
                  <a:pt x="12500406" y="8800623"/>
                </a:lnTo>
                <a:lnTo>
                  <a:pt x="0" y="8800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6" t="-4701" r="-2832" b="-52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4971" y="106520"/>
            <a:ext cx="12224697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Ảnh chụp màn hình Firewall rule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0530" y="3529923"/>
            <a:ext cx="468028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kết quả kiểm thử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1188" y="4607857"/>
            <a:ext cx="407715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Public chat: Passed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1188" y="5534068"/>
            <a:ext cx="407715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Private chat: Passed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1188" y="6460279"/>
            <a:ext cx="407715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User online: valid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1188" y="7386489"/>
            <a:ext cx="4077157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00BF63"/>
                </a:solidFill>
                <a:latin typeface="Noto Sans"/>
                <a:ea typeface="Noto Sans"/>
                <a:cs typeface="Noto Sans"/>
                <a:sym typeface="Noto Sans"/>
              </a:rPr>
              <a:t>Disconnect: stable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7869" y="848345"/>
            <a:ext cx="18442868" cy="78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8000" spc="-176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KẾT QUẢ VÀ HƯỚNG PHÁT TRIỄN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0586" y="2351624"/>
            <a:ext cx="4208757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Kết quả đạt được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82851" y="6732545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Lưu là Load History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1787" y="6732545"/>
            <a:ext cx="221787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Public Chat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807" y="5758709"/>
            <a:ext cx="227026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User online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0807" y="4784873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Nhiều Client đồng thời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2220" y="3806625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Chat Lan thời gian thực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1787" y="7706381"/>
            <a:ext cx="258461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Private Chat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2851" y="7706381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Avatar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82851" y="5758709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Reply Message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984" y="380662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5984" y="4784873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984" y="575870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5984" y="673254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5153" y="770638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77418" y="5758709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77418" y="6732545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77418" y="7706381"/>
            <a:ext cx="605433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19303" y="2351624"/>
            <a:ext cx="5518551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499" spc="-2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Hương phát triễn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92896" y="3549442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Async Socket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2896" y="4527689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TLS Encryption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92896" y="5501525"/>
            <a:ext cx="5439964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SQL Server/PostgreSQL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2896" y="6475361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WebSocket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92896" y="7446583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Voice Chat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92896" y="8420419"/>
            <a:ext cx="457550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Chia sẻ File lớn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87601" y="3283603"/>
            <a:ext cx="7701044" cy="4845935"/>
            <a:chOff x="0" y="0"/>
            <a:chExt cx="1849748" cy="1163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9748" cy="1163967"/>
            </a:xfrm>
            <a:custGeom>
              <a:avLst/>
              <a:gdLst/>
              <a:ahLst/>
              <a:cxnLst/>
              <a:rect r="r" b="b" t="t" l="l"/>
              <a:pathLst>
                <a:path h="1163967" w="1849748">
                  <a:moveTo>
                    <a:pt x="168972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03947"/>
                  </a:lnTo>
                  <a:lnTo>
                    <a:pt x="160020" y="1163967"/>
                  </a:lnTo>
                  <a:lnTo>
                    <a:pt x="1689728" y="1163967"/>
                  </a:lnTo>
                  <a:lnTo>
                    <a:pt x="1849748" y="1003947"/>
                  </a:lnTo>
                  <a:lnTo>
                    <a:pt x="1849748" y="160020"/>
                  </a:lnTo>
                  <a:lnTo>
                    <a:pt x="1689728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92075"/>
              <a:ext cx="1722748" cy="100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33774" y="5036678"/>
            <a:ext cx="13349611" cy="175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7"/>
              </a:lnSpc>
            </a:pPr>
            <a:r>
              <a:rPr lang="en-US" sz="18077" spc="-397">
                <a:solidFill>
                  <a:srgbClr val="1CC9F1"/>
                </a:solidFill>
                <a:latin typeface="RQND Pro Wide"/>
                <a:ea typeface="RQND Pro Wide"/>
                <a:cs typeface="RQND Pro Wide"/>
                <a:sym typeface="RQND Pro Wide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205712" y="3770631"/>
            <a:ext cx="6650566" cy="3871877"/>
            <a:chOff x="0" y="0"/>
            <a:chExt cx="2150787" cy="12521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87" cy="1252161"/>
            </a:xfrm>
            <a:custGeom>
              <a:avLst/>
              <a:gdLst/>
              <a:ahLst/>
              <a:cxnLst/>
              <a:rect r="r" b="b" t="t" l="l"/>
              <a:pathLst>
                <a:path h="1252161" w="2150787">
                  <a:moveTo>
                    <a:pt x="1912662" y="0"/>
                  </a:moveTo>
                  <a:lnTo>
                    <a:pt x="2150787" y="238125"/>
                  </a:lnTo>
                  <a:lnTo>
                    <a:pt x="2150787" y="1014036"/>
                  </a:lnTo>
                  <a:lnTo>
                    <a:pt x="1912662" y="1252161"/>
                  </a:lnTo>
                  <a:lnTo>
                    <a:pt x="238125" y="1252161"/>
                  </a:lnTo>
                  <a:lnTo>
                    <a:pt x="0" y="101403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912662" y="0"/>
                  </a:lnTo>
                  <a:close/>
                </a:path>
              </a:pathLst>
            </a:custGeom>
            <a:blipFill>
              <a:blip r:embed="rId2"/>
              <a:stretch>
                <a:fillRect l="0" t="-7326" r="0" b="-732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123809" y="3283603"/>
            <a:ext cx="7701044" cy="4845935"/>
            <a:chOff x="0" y="0"/>
            <a:chExt cx="1849748" cy="11639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9748" cy="1163967"/>
            </a:xfrm>
            <a:custGeom>
              <a:avLst/>
              <a:gdLst/>
              <a:ahLst/>
              <a:cxnLst/>
              <a:rect r="r" b="b" t="t" l="l"/>
              <a:pathLst>
                <a:path h="1163967" w="1849748">
                  <a:moveTo>
                    <a:pt x="168972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03947"/>
                  </a:lnTo>
                  <a:lnTo>
                    <a:pt x="160020" y="1163967"/>
                  </a:lnTo>
                  <a:lnTo>
                    <a:pt x="1689728" y="1163967"/>
                  </a:lnTo>
                  <a:lnTo>
                    <a:pt x="1849748" y="1003947"/>
                  </a:lnTo>
                  <a:lnTo>
                    <a:pt x="1849748" y="160020"/>
                  </a:lnTo>
                  <a:lnTo>
                    <a:pt x="1689728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92075"/>
              <a:ext cx="1722748" cy="100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6848152" y="3768173"/>
            <a:ext cx="6650566" cy="3871877"/>
            <a:chOff x="0" y="0"/>
            <a:chExt cx="2150787" cy="12521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0787" cy="1252161"/>
            </a:xfrm>
            <a:custGeom>
              <a:avLst/>
              <a:gdLst/>
              <a:ahLst/>
              <a:cxnLst/>
              <a:rect r="r" b="b" t="t" l="l"/>
              <a:pathLst>
                <a:path h="1252161" w="2150787">
                  <a:moveTo>
                    <a:pt x="1912662" y="0"/>
                  </a:moveTo>
                  <a:lnTo>
                    <a:pt x="2150787" y="238125"/>
                  </a:lnTo>
                  <a:lnTo>
                    <a:pt x="2150787" y="1014036"/>
                  </a:lnTo>
                  <a:lnTo>
                    <a:pt x="1912662" y="1252161"/>
                  </a:lnTo>
                  <a:lnTo>
                    <a:pt x="238125" y="1252161"/>
                  </a:lnTo>
                  <a:lnTo>
                    <a:pt x="0" y="101403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912662" y="0"/>
                  </a:lnTo>
                  <a:close/>
                </a:path>
              </a:pathLst>
            </a:custGeom>
            <a:blipFill>
              <a:blip r:embed="rId2"/>
              <a:stretch>
                <a:fillRect l="0" t="-7326" r="0" b="-732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DAHODS2P_ns</dc:identifier>
  <dcterms:modified xsi:type="dcterms:W3CDTF">2011-08-01T06:04:30Z</dcterms:modified>
  <cp:revision>1</cp:revision>
  <dc:title>Lập trình mạng UDM_08                                                                                                                                                                                                                       </dc:title>
</cp:coreProperties>
</file>